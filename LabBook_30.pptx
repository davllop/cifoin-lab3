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4"/>
  </p:notesMasterIdLst>
  <p:handoutMasterIdLst>
    <p:handoutMasterId r:id="rId15"/>
  </p:handoutMasterIdLst>
  <p:sldIdLst>
    <p:sldId id="256" r:id="rId2"/>
    <p:sldId id="289" r:id="rId3"/>
    <p:sldId id="290" r:id="rId4"/>
    <p:sldId id="296" r:id="rId5"/>
    <p:sldId id="375" r:id="rId6"/>
    <p:sldId id="376" r:id="rId7"/>
    <p:sldId id="389" r:id="rId8"/>
    <p:sldId id="377" r:id="rId9"/>
    <p:sldId id="388" r:id="rId10"/>
    <p:sldId id="380" r:id="rId11"/>
    <p:sldId id="381" r:id="rId12"/>
    <p:sldId id="288" r:id="rId13"/>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varScale="1">
        <p:scale>
          <a:sx n="85" d="100"/>
          <a:sy n="85" d="100"/>
        </p:scale>
        <p:origin x="1027" y="53"/>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28/05/2026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28/05/2026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CA2C-DC1C-94AC-4B44-E792E81057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DDFC22-9D5D-07E4-D6DC-4D9F86CC1C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FDA27A-7867-5B97-DBC7-5AFE21A3C8C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3521375-3405-AFF1-9827-86123C005F32}"/>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574884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3.0. CIRCUITS &amp; COMPACT MODELS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3.0. CIRCUITS &amp; COMPACT MODELS</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sv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noProof="0" dirty="0">
                <a:latin typeface="Lucida Sans"/>
                <a:cs typeface="Lucida Sans"/>
              </a:rPr>
              <a:t>Lab Book 3.0 </a:t>
            </a:r>
            <a:r>
              <a:rPr lang="es-ES" sz="3200" b="1" noProof="0" dirty="0" err="1">
                <a:latin typeface="Lucida Sans"/>
                <a:cs typeface="Lucida Sans"/>
              </a:rPr>
              <a:t>Circuits</a:t>
            </a:r>
            <a:r>
              <a:rPr lang="es-ES" sz="3200" b="1" noProof="0" dirty="0">
                <a:latin typeface="Lucida Sans"/>
                <a:cs typeface="Lucida Sans"/>
              </a:rPr>
              <a:t> and Compact </a:t>
            </a:r>
            <a:r>
              <a:rPr lang="es-ES" sz="3200" b="1" noProof="0" dirty="0" err="1">
                <a:latin typeface="Lucida Sans"/>
                <a:cs typeface="Lucida Sans"/>
              </a:rPr>
              <a:t>Models</a:t>
            </a:r>
            <a:endParaRPr lang="es-ES" sz="3200" noProof="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noProof="0" dirty="0">
                <a:latin typeface="Arial"/>
                <a:cs typeface="Arial"/>
              </a:rPr>
              <a:t>Student: </a:t>
            </a:r>
            <a:endParaRPr lang="es-ES" sz="1800" noProof="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lang="es-ES" noProof="0" dirty="0"/>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noProof="0" smtClean="0"/>
              <a:t>1</a:t>
            </a:fld>
            <a:endParaRPr lang="es-ES"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noProof="0" dirty="0" err="1">
                <a:latin typeface="+mj-lt"/>
                <a:cs typeface="Lucida Sans"/>
              </a:rPr>
              <a:t>Instructions</a:t>
            </a:r>
            <a:br>
              <a:rPr lang="es-ES" sz="2400" spc="-5" noProof="0" dirty="0">
                <a:latin typeface="+mj-lt"/>
                <a:cs typeface="Lucida Sans"/>
              </a:rPr>
            </a:br>
            <a:r>
              <a:rPr lang="es-ES" b="0" spc="-5" noProof="0" dirty="0">
                <a:latin typeface="+mj-lt"/>
                <a:cs typeface="Lucida Sans"/>
              </a:rPr>
              <a:t>General</a:t>
            </a:r>
            <a:endParaRPr lang="es-ES" sz="2400" b="0" noProof="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noProof="0" smtClean="0"/>
              <a:t>2</a:t>
            </a:fld>
            <a:endParaRPr lang="es-ES" noProof="0" dirty="0"/>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noProof="0" dirty="0"/>
              <a:t>LAB 3.0. CIRCUITS &amp; COMPACT MODELS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s-ES" sz="2000" b="1" kern="0" noProof="0" dirty="0">
                <a:solidFill>
                  <a:sysClr val="windowText" lastClr="000000"/>
                </a:solidFill>
                <a:sym typeface="Wingdings" pitchFamily="2" charset="2"/>
              </a:rPr>
              <a:t>SCRIPTS</a:t>
            </a:r>
          </a:p>
          <a:p>
            <a:pPr marL="342900" indent="-342900" algn="just">
              <a:buFont typeface="Arial" panose="020B0604020202020204" pitchFamily="34" charset="0"/>
              <a:buChar char="•"/>
            </a:pPr>
            <a:r>
              <a:rPr lang="es-ES" kern="0" noProof="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s-ES" kern="0" noProof="0" dirty="0">
                <a:solidFill>
                  <a:sysClr val="windowText" lastClr="000000"/>
                </a:solidFill>
                <a:sym typeface="Wingdings" pitchFamily="2" charset="2"/>
              </a:rPr>
              <a:t>Fork </a:t>
            </a:r>
            <a:r>
              <a:rPr lang="es-ES" kern="0" noProof="0" dirty="0" err="1">
                <a:solidFill>
                  <a:sysClr val="windowText" lastClr="000000"/>
                </a:solidFill>
                <a:sym typeface="Wingdings" pitchFamily="2" charset="2"/>
              </a:rPr>
              <a:t>the</a:t>
            </a:r>
            <a:r>
              <a:rPr lang="es-ES" kern="0" noProof="0" dirty="0">
                <a:solidFill>
                  <a:sysClr val="windowText" lastClr="000000"/>
                </a:solidFill>
                <a:sym typeface="Wingdings" pitchFamily="2" charset="2"/>
              </a:rPr>
              <a:t> repo: https://github.com/cccanvas-upv/cifoin-lab3.git</a:t>
            </a:r>
          </a:p>
          <a:p>
            <a:pPr marL="800100" lvl="1" indent="-342900" algn="just">
              <a:buFont typeface="Arial" panose="020B0604020202020204" pitchFamily="34" charset="0"/>
              <a:buChar char="•"/>
            </a:pPr>
            <a:r>
              <a:rPr lang="es-ES" kern="0" noProof="0" dirty="0">
                <a:solidFill>
                  <a:sysClr val="windowText" lastClr="000000"/>
                </a:solidFill>
                <a:sym typeface="Wingdings" pitchFamily="2" charset="2"/>
              </a:rPr>
              <a:t>Clone </a:t>
            </a:r>
            <a:r>
              <a:rPr lang="es-ES" kern="0" noProof="0" dirty="0" err="1">
                <a:solidFill>
                  <a:sysClr val="windowText" lastClr="000000"/>
                </a:solidFill>
                <a:sym typeface="Wingdings" pitchFamily="2" charset="2"/>
              </a:rPr>
              <a:t>the</a:t>
            </a:r>
            <a:r>
              <a:rPr lang="es-ES" kern="0" noProof="0" dirty="0">
                <a:solidFill>
                  <a:sysClr val="windowText" lastClr="000000"/>
                </a:solidFill>
                <a:sym typeface="Wingdings" pitchFamily="2" charset="2"/>
              </a:rPr>
              <a:t> repo </a:t>
            </a:r>
            <a:r>
              <a:rPr lang="es-ES" kern="0" noProof="0" dirty="0" err="1">
                <a:solidFill>
                  <a:sysClr val="windowText" lastClr="000000"/>
                </a:solidFill>
                <a:sym typeface="Wingdings" pitchFamily="2" charset="2"/>
              </a:rPr>
              <a:t>using</a:t>
            </a:r>
            <a:r>
              <a:rPr lang="es-ES" kern="0" noProof="0" dirty="0">
                <a:solidFill>
                  <a:sysClr val="windowText" lastClr="000000"/>
                </a:solidFill>
                <a:sym typeface="Wingdings" pitchFamily="2" charset="2"/>
              </a:rPr>
              <a:t> </a:t>
            </a:r>
            <a:r>
              <a:rPr lang="es-ES" kern="0" noProof="0" dirty="0" err="1">
                <a:solidFill>
                  <a:sysClr val="windowText" lastClr="000000"/>
                </a:solidFill>
                <a:sym typeface="Wingdings" pitchFamily="2" charset="2"/>
              </a:rPr>
              <a:t>VSCode</a:t>
            </a:r>
            <a:endParaRPr lang="es-ES" kern="0" noProof="0" dirty="0">
              <a:solidFill>
                <a:sysClr val="windowText" lastClr="000000"/>
              </a:solidFill>
              <a:sym typeface="Wingdings" pitchFamily="2" charset="2"/>
            </a:endParaRPr>
          </a:p>
          <a:p>
            <a:pPr marL="342900" indent="-342900" algn="just">
              <a:buFont typeface="Arial" panose="020B0604020202020204" pitchFamily="34" charset="0"/>
              <a:buChar char="•"/>
            </a:pPr>
            <a:r>
              <a:rPr lang="es-ES" kern="0" noProof="0" dirty="0">
                <a:solidFill>
                  <a:sysClr val="windowText" lastClr="000000"/>
                </a:solidFill>
              </a:rPr>
              <a:t>Run </a:t>
            </a:r>
            <a:r>
              <a:rPr lang="es-ES" kern="0" noProof="0" dirty="0" err="1">
                <a:solidFill>
                  <a:sysClr val="windowText" lastClr="000000"/>
                </a:solidFill>
              </a:rPr>
              <a:t>the</a:t>
            </a:r>
            <a:r>
              <a:rPr lang="es-ES" kern="0" noProof="0" dirty="0">
                <a:solidFill>
                  <a:sysClr val="windowText" lastClr="000000"/>
                </a:solidFill>
              </a:rPr>
              <a:t> </a:t>
            </a:r>
            <a:r>
              <a:rPr lang="es-ES" kern="0" noProof="0" dirty="0" err="1">
                <a:solidFill>
                  <a:sysClr val="windowText" lastClr="000000"/>
                </a:solidFill>
              </a:rPr>
              <a:t>Jupyter</a:t>
            </a:r>
            <a:r>
              <a:rPr lang="es-ES" kern="0" noProof="0" dirty="0">
                <a:solidFill>
                  <a:sysClr val="windowText" lastClr="000000"/>
                </a:solidFill>
              </a:rPr>
              <a:t> Notebook: </a:t>
            </a:r>
          </a:p>
          <a:p>
            <a:pPr marL="800100" lvl="1" indent="-342900" algn="just">
              <a:buFont typeface="Arial" panose="020B0604020202020204" pitchFamily="34" charset="0"/>
              <a:buChar char="•"/>
            </a:pPr>
            <a:r>
              <a:rPr lang="es-ES" kern="0" noProof="0" dirty="0">
                <a:solidFill>
                  <a:sysClr val="windowText" lastClr="000000"/>
                </a:solidFill>
              </a:rPr>
              <a:t>CIRCUITS_&amp;_</a:t>
            </a:r>
            <a:r>
              <a:rPr lang="es-ES" kern="0" noProof="0" dirty="0" err="1">
                <a:solidFill>
                  <a:sysClr val="windowText" lastClr="000000"/>
                </a:solidFill>
              </a:rPr>
              <a:t>COMPACT_MODELS.ipynb</a:t>
            </a:r>
            <a:r>
              <a:rPr lang="es-ES" kern="0" noProof="0" dirty="0">
                <a:solidFill>
                  <a:sysClr val="windowText" lastClr="000000"/>
                </a:solidFill>
              </a:rPr>
              <a:t> </a:t>
            </a:r>
          </a:p>
          <a:p>
            <a:pPr algn="just"/>
            <a:endParaRPr lang="es-ES" b="1" i="1" noProof="0" dirty="0"/>
          </a:p>
          <a:p>
            <a:pPr algn="just"/>
            <a:r>
              <a:rPr lang="es-ES" b="1" i="1" noProof="0" dirty="0" err="1"/>
              <a:t>Devices</a:t>
            </a:r>
            <a:r>
              <a:rPr lang="es-ES" b="1" i="1" noProof="0" dirty="0"/>
              <a:t> </a:t>
            </a:r>
            <a:r>
              <a:rPr lang="es-ES" i="1" noProof="0" dirty="0" err="1"/>
              <a:t>to</a:t>
            </a:r>
            <a:r>
              <a:rPr lang="es-ES" i="1" noProof="0" dirty="0"/>
              <a:t> be </a:t>
            </a:r>
            <a:r>
              <a:rPr lang="es-ES" i="1" noProof="0" dirty="0" err="1"/>
              <a:t>studied</a:t>
            </a:r>
            <a:r>
              <a:rPr lang="es-ES" i="1" noProof="0" dirty="0"/>
              <a:t>:</a:t>
            </a:r>
            <a:endParaRPr lang="es-ES" b="1" i="1" noProof="0" dirty="0"/>
          </a:p>
          <a:p>
            <a:pPr algn="just"/>
            <a:endParaRPr lang="es-ES" sz="2000" b="1" i="1" noProof="0" dirty="0"/>
          </a:p>
          <a:p>
            <a:pPr algn="just"/>
            <a:endParaRPr lang="es-ES" sz="2000" kern="0" noProof="0" dirty="0">
              <a:solidFill>
                <a:sysClr val="windowText" lastClr="000000"/>
              </a:solidFill>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8077200" y="5582965"/>
            <a:ext cx="2176237" cy="369332"/>
          </a:xfrm>
          <a:prstGeom prst="rect">
            <a:avLst/>
          </a:prstGeom>
          <a:noFill/>
        </p:spPr>
        <p:txBody>
          <a:bodyPr wrap="none" rtlCol="0">
            <a:spAutoFit/>
          </a:bodyPr>
          <a:lstStyle/>
          <a:p>
            <a:pPr algn="r"/>
            <a:r>
              <a:rPr lang="es-ES" b="1" noProof="0" dirty="0"/>
              <a:t>Ring </a:t>
            </a:r>
            <a:r>
              <a:rPr lang="es-ES" b="1" noProof="0" dirty="0" err="1"/>
              <a:t>Resonators</a:t>
            </a:r>
            <a:r>
              <a:rPr lang="es-ES" b="1" noProof="0" dirty="0"/>
              <a:t> (RR)</a:t>
            </a:r>
            <a:endParaRPr lang="es-ES" noProof="0"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039582" y="5579058"/>
            <a:ext cx="4176324" cy="369332"/>
          </a:xfrm>
          <a:prstGeom prst="rect">
            <a:avLst/>
          </a:prstGeom>
          <a:noFill/>
        </p:spPr>
        <p:txBody>
          <a:bodyPr wrap="square">
            <a:spAutoFit/>
          </a:bodyPr>
          <a:lstStyle/>
          <a:p>
            <a:pPr algn="ctr"/>
            <a:r>
              <a:rPr lang="es-ES" b="1" noProof="0" dirty="0"/>
              <a:t>Mach-Zehnder </a:t>
            </a:r>
            <a:r>
              <a:rPr lang="es-ES" b="1" noProof="0" dirty="0" err="1"/>
              <a:t>Interferometer</a:t>
            </a:r>
            <a:r>
              <a:rPr lang="es-ES" b="1" noProof="0" dirty="0"/>
              <a:t> (MZI)</a:t>
            </a:r>
            <a:endParaRPr lang="es-ES" noProof="0" dirty="0"/>
          </a:p>
        </p:txBody>
      </p:sp>
      <p:pic>
        <p:nvPicPr>
          <p:cNvPr id="6" name="Imagen 5" descr="Forma, Rectángulo&#10;&#10;El contenido generado por IA puede ser incorrecto.">
            <a:extLst>
              <a:ext uri="{FF2B5EF4-FFF2-40B4-BE49-F238E27FC236}">
                <a16:creationId xmlns:a16="http://schemas.microsoft.com/office/drawing/2014/main" id="{91C2AB39-AF40-7700-840D-38F2C1813C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428" y="3996612"/>
            <a:ext cx="5240632" cy="1246789"/>
          </a:xfrm>
          <a:prstGeom prst="rect">
            <a:avLst/>
          </a:prstGeom>
        </p:spPr>
      </p:pic>
      <p:pic>
        <p:nvPicPr>
          <p:cNvPr id="14" name="Imagen 13" descr="Imagen que contiene Forma&#10;&#10;El contenido generado por IA puede ser incorrecto.">
            <a:extLst>
              <a:ext uri="{FF2B5EF4-FFF2-40B4-BE49-F238E27FC236}">
                <a16:creationId xmlns:a16="http://schemas.microsoft.com/office/drawing/2014/main" id="{43CD26B4-EB7C-61CA-1BCF-B2AD5F6ED004}"/>
              </a:ext>
            </a:extLst>
          </p:cNvPr>
          <p:cNvPicPr>
            <a:picLocks noChangeAspect="1"/>
          </p:cNvPicPr>
          <p:nvPr/>
        </p:nvPicPr>
        <p:blipFill>
          <a:blip r:embed="rId4" cstate="print">
            <a:extLst>
              <a:ext uri="{28A0092B-C50C-407E-A947-70E740481C1C}">
                <a14:useLocalDpi xmlns:a14="http://schemas.microsoft.com/office/drawing/2010/main" val="0"/>
              </a:ext>
            </a:extLst>
          </a:blip>
          <a:srcRect r="68044"/>
          <a:stretch>
            <a:fillRect/>
          </a:stretch>
        </p:blipFill>
        <p:spPr>
          <a:xfrm>
            <a:off x="6624590" y="3638327"/>
            <a:ext cx="2402774" cy="1900395"/>
          </a:xfrm>
          <a:prstGeom prst="rect">
            <a:avLst/>
          </a:prstGeom>
        </p:spPr>
      </p:pic>
      <p:pic>
        <p:nvPicPr>
          <p:cNvPr id="15" name="Imagen 14" descr="Imagen que contiene Forma&#10;&#10;El contenido generado por IA puede ser incorrecto.">
            <a:extLst>
              <a:ext uri="{FF2B5EF4-FFF2-40B4-BE49-F238E27FC236}">
                <a16:creationId xmlns:a16="http://schemas.microsoft.com/office/drawing/2014/main" id="{B296E22E-7EA4-0FD2-7B98-F6CB5BB97AB9}"/>
              </a:ext>
            </a:extLst>
          </p:cNvPr>
          <p:cNvPicPr>
            <a:picLocks noChangeAspect="1"/>
          </p:cNvPicPr>
          <p:nvPr/>
        </p:nvPicPr>
        <p:blipFill>
          <a:blip r:embed="rId4" cstate="print">
            <a:extLst>
              <a:ext uri="{28A0092B-C50C-407E-A947-70E740481C1C}">
                <a14:useLocalDpi xmlns:a14="http://schemas.microsoft.com/office/drawing/2010/main" val="0"/>
              </a:ext>
            </a:extLst>
          </a:blip>
          <a:srcRect l="67258" r="786"/>
          <a:stretch>
            <a:fillRect/>
          </a:stretch>
        </p:blipFill>
        <p:spPr>
          <a:xfrm>
            <a:off x="9354819" y="3650394"/>
            <a:ext cx="2402774" cy="1900395"/>
          </a:xfrm>
          <a:prstGeom prst="rect">
            <a:avLst/>
          </a:prstGeom>
        </p:spPr>
      </p:pic>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228A8A28-0D43-C564-7B6A-20F75755616A}"/>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s-ES" sz="1600" noProof="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s-ES" sz="1600" noProof="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s-ES" sz="1600" noProof="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s-ES" sz="1600" noProof="0" dirty="0">
              <a:solidFill>
                <a:schemeClr val="tx1"/>
              </a:solidFill>
              <a:latin typeface="Arial" panose="020B0604020202020204" pitchFamily="34" charset="0"/>
              <a:cs typeface="Arial" panose="020B0604020202020204" pitchFamily="34" charset="0"/>
            </a:endParaRPr>
          </a:p>
          <a:p>
            <a:pPr algn="just"/>
            <a:endParaRPr lang="es-ES" sz="1600" noProof="0" dirty="0">
              <a:solidFill>
                <a:schemeClr val="tx1"/>
              </a:solidFill>
              <a:latin typeface="Arial" panose="020B0604020202020204" pitchFamily="34" charset="0"/>
              <a:cs typeface="Arial" panose="020B0604020202020204" pitchFamily="34" charset="0"/>
            </a:endParaRPr>
          </a:p>
          <a:p>
            <a:pPr algn="just"/>
            <a:endParaRPr lang="es-ES" sz="1600" noProof="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#1a – </a:t>
            </a:r>
            <a:r>
              <a:rPr lang="es-ES" sz="2500" noProof="0" dirty="0" err="1"/>
              <a:t>Perfectly</a:t>
            </a:r>
            <a:r>
              <a:rPr lang="es-ES" sz="2500" noProof="0" dirty="0"/>
              <a:t> </a:t>
            </a:r>
            <a:r>
              <a:rPr lang="es-ES" sz="2500" noProof="0" dirty="0" err="1"/>
              <a:t>balanced</a:t>
            </a:r>
            <a:r>
              <a:rPr lang="es-ES" sz="2500" noProof="0" dirty="0"/>
              <a:t> MZI</a:t>
            </a:r>
            <a:br>
              <a:rPr lang="es-ES" sz="2500" spc="-5" noProof="0" dirty="0">
                <a:latin typeface="+mj-lt"/>
                <a:cs typeface="Lucida Sans"/>
              </a:rPr>
            </a:b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noProof="0" smtClean="0"/>
              <a:t>3</a:t>
            </a:fld>
            <a:endParaRPr lang="es-ES" noProof="0" dirty="0"/>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noProof="0" dirty="0"/>
              <a:t>LAB 3.0. CIRCUITS &amp; COMPACT MODELS</a:t>
            </a:r>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629399" y="1556991"/>
            <a:ext cx="5050811" cy="2895600"/>
          </a:xfrm>
          <a:prstGeom prst="rect">
            <a:avLst/>
          </a:prstGeom>
        </p:spPr>
        <p:txBody>
          <a:bodyPr>
            <a:normAutofit lnSpcReduction="1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s-ES" sz="2000" b="1" noProof="0" dirty="0"/>
              <a:t>INSTRUCTOR:</a:t>
            </a:r>
          </a:p>
          <a:p>
            <a:pPr marL="342900" indent="-342900" algn="just">
              <a:buFont typeface="Arial" panose="020B0604020202020204" pitchFamily="34" charset="0"/>
              <a:buChar char="•"/>
            </a:pPr>
            <a:r>
              <a:rPr lang="es-ES" sz="2000" noProof="0" dirty="0"/>
              <a:t>Present Python and </a:t>
            </a:r>
            <a:r>
              <a:rPr lang="es-ES" sz="2000" noProof="0" dirty="0" err="1"/>
              <a:t>GDSFactory</a:t>
            </a:r>
            <a:r>
              <a:rPr lang="es-ES" sz="2000" noProof="0" dirty="0"/>
              <a:t> </a:t>
            </a:r>
            <a:r>
              <a:rPr lang="es-ES" sz="2000" noProof="0" dirty="0" err="1"/>
              <a:t>implementation</a:t>
            </a:r>
            <a:r>
              <a:rPr lang="es-ES" sz="2000" noProof="0" dirty="0"/>
              <a:t> </a:t>
            </a:r>
            <a:r>
              <a:rPr lang="es-ES" sz="2000" noProof="0" dirty="0" err="1"/>
              <a:t>of</a:t>
            </a:r>
            <a:r>
              <a:rPr lang="es-ES" sz="2000" noProof="0" dirty="0"/>
              <a:t> </a:t>
            </a:r>
            <a:r>
              <a:rPr lang="es-ES" sz="2000" noProof="0" dirty="0" err="1"/>
              <a:t>the</a:t>
            </a:r>
            <a:r>
              <a:rPr lang="es-ES" sz="2000" noProof="0" dirty="0"/>
              <a:t> Compact </a:t>
            </a:r>
            <a:r>
              <a:rPr lang="es-ES" sz="2000" noProof="0" dirty="0" err="1"/>
              <a:t>Models</a:t>
            </a:r>
            <a:r>
              <a:rPr lang="es-ES" sz="2000" noProof="0" dirty="0"/>
              <a:t> and </a:t>
            </a:r>
            <a:r>
              <a:rPr lang="es-ES" sz="2000" noProof="0" dirty="0" err="1"/>
              <a:t>Circuit</a:t>
            </a:r>
            <a:r>
              <a:rPr lang="es-ES" sz="2000" noProof="0" dirty="0"/>
              <a:t> Model</a:t>
            </a:r>
          </a:p>
          <a:p>
            <a:pPr marL="342900" indent="-342900" algn="just">
              <a:buFont typeface="Arial" panose="020B0604020202020204" pitchFamily="34" charset="0"/>
              <a:buChar char="•"/>
            </a:pPr>
            <a:r>
              <a:rPr lang="es-ES" sz="2000" noProof="0" dirty="0"/>
              <a:t>Describe </a:t>
            </a:r>
            <a:r>
              <a:rPr lang="es-ES" sz="2000" noProof="0" dirty="0" err="1"/>
              <a:t>how</a:t>
            </a:r>
            <a:r>
              <a:rPr lang="es-ES" sz="2000" noProof="0" dirty="0"/>
              <a:t> </a:t>
            </a:r>
            <a:r>
              <a:rPr lang="es-ES" sz="2000" noProof="0" dirty="0" err="1"/>
              <a:t>to</a:t>
            </a:r>
            <a:r>
              <a:rPr lang="es-ES" sz="2000" noProof="0" dirty="0"/>
              <a:t> </a:t>
            </a:r>
            <a:r>
              <a:rPr lang="es-ES" sz="2000" noProof="0" dirty="0" err="1"/>
              <a:t>simulate</a:t>
            </a:r>
            <a:r>
              <a:rPr lang="es-ES" sz="2000" noProof="0" dirty="0"/>
              <a:t> </a:t>
            </a:r>
            <a:r>
              <a:rPr lang="es-ES" sz="2000" noProof="0" dirty="0" err="1"/>
              <a:t>usin</a:t>
            </a:r>
            <a:r>
              <a:rPr lang="es-ES" sz="2000" noProof="0" dirty="0"/>
              <a:t> SAX </a:t>
            </a:r>
            <a:r>
              <a:rPr lang="es-ES" sz="2000" noProof="0" dirty="0" err="1"/>
              <a:t>library</a:t>
            </a:r>
            <a:endParaRPr lang="es-ES" sz="2000" noProof="0" dirty="0"/>
          </a:p>
          <a:p>
            <a:pPr marL="342900" indent="-342900" algn="just">
              <a:buFont typeface="Arial" panose="020B0604020202020204" pitchFamily="34" charset="0"/>
              <a:buChar char="•"/>
            </a:pPr>
            <a:r>
              <a:rPr lang="es-ES" sz="2000" noProof="0" dirty="0"/>
              <a:t>Describe </a:t>
            </a:r>
            <a:r>
              <a:rPr lang="es-ES" sz="2000" noProof="0" dirty="0" err="1"/>
              <a:t>the</a:t>
            </a:r>
            <a:r>
              <a:rPr lang="es-ES" sz="2000" noProof="0" dirty="0"/>
              <a:t> outputs.</a:t>
            </a:r>
          </a:p>
          <a:p>
            <a:pPr marL="0" indent="0" algn="just">
              <a:buNone/>
            </a:pPr>
            <a:r>
              <a:rPr lang="es-ES" b="1" noProof="0" dirty="0"/>
              <a:t>ALL EXAMPLE #1: </a:t>
            </a:r>
          </a:p>
          <a:p>
            <a:pPr marL="0" indent="0" algn="just">
              <a:buNone/>
            </a:pPr>
            <a:r>
              <a:rPr lang="es-ES" noProof="0" dirty="0" err="1"/>
              <a:t>wvl</a:t>
            </a:r>
            <a:r>
              <a:rPr lang="es-ES" noProof="0" dirty="0"/>
              <a:t> [1500-1600] step 0.001</a:t>
            </a:r>
          </a:p>
          <a:p>
            <a:pPr marL="0" indent="0" algn="just">
              <a:buNone/>
            </a:pPr>
            <a:r>
              <a:rPr lang="es-ES" noProof="0" dirty="0" err="1"/>
              <a:t>dL</a:t>
            </a:r>
            <a:r>
              <a:rPr lang="es-ES" noProof="0" dirty="0"/>
              <a:t> = 0</a:t>
            </a:r>
          </a:p>
          <a:p>
            <a:pPr marL="0" indent="0" algn="just">
              <a:buNone/>
            </a:pPr>
            <a:r>
              <a:rPr lang="es-ES" noProof="0" dirty="0"/>
              <a:t>Kin = Kout = 0.5 </a:t>
            </a:r>
            <a:r>
              <a:rPr lang="es-ES" noProof="0" dirty="0" err="1"/>
              <a:t>for</a:t>
            </a:r>
            <a:r>
              <a:rPr lang="es-ES" noProof="0" dirty="0"/>
              <a:t> </a:t>
            </a:r>
            <a:r>
              <a:rPr lang="es-ES" noProof="0" dirty="0" err="1"/>
              <a:t>all</a:t>
            </a:r>
            <a:r>
              <a:rPr lang="es-ES" noProof="0" dirty="0"/>
              <a:t> </a:t>
            </a:r>
            <a:r>
              <a:rPr lang="es-ES" noProof="0" dirty="0" err="1"/>
              <a:t>wvl</a:t>
            </a:r>
            <a:endParaRPr lang="es-ES" noProof="0" dirty="0"/>
          </a:p>
          <a:p>
            <a:pPr algn="just"/>
            <a:endParaRPr lang="es-ES" sz="2000" b="1" i="1" noProof="0" dirty="0"/>
          </a:p>
          <a:p>
            <a:pPr algn="just"/>
            <a:endParaRPr lang="es-ES" sz="2000" kern="0" noProof="0" dirty="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a:latin typeface="Arial" panose="020B0604020202020204" pitchFamily="34" charset="0"/>
                <a:cs typeface="Arial" panose="020B0604020202020204" pitchFamily="34" charset="0"/>
              </a:rPr>
              <a:t>Podemos ver cómo cuando el MZI está perfectamente balanceado, </a:t>
            </a:r>
            <a:r>
              <a:rPr lang="es-ES" sz="1200" noProof="0" dirty="0" err="1">
                <a:latin typeface="Arial" panose="020B0604020202020204" pitchFamily="34" charset="0"/>
                <a:cs typeface="Arial" panose="020B0604020202020204" pitchFamily="34" charset="0"/>
              </a:rPr>
              <a:t>temenos</a:t>
            </a:r>
            <a:r>
              <a:rPr lang="es-ES" sz="1200" noProof="0" dirty="0">
                <a:latin typeface="Arial" panose="020B0604020202020204" pitchFamily="34" charset="0"/>
                <a:cs typeface="Arial" panose="020B0604020202020204" pitchFamily="34" charset="0"/>
              </a:rPr>
              <a:t> una función de transferencia completamente plana, teniendo una transferencia de potencia perfecta entre </a:t>
            </a:r>
            <a:r>
              <a:rPr lang="es-ES" sz="1200" noProof="0" dirty="0" err="1">
                <a:latin typeface="Arial" panose="020B0604020202020204" pitchFamily="34" charset="0"/>
                <a:cs typeface="Arial" panose="020B0604020202020204" pitchFamily="34" charset="0"/>
              </a:rPr>
              <a:t>kos</a:t>
            </a:r>
            <a:r>
              <a:rPr lang="es-ES" sz="1200" noProof="0" dirty="0">
                <a:latin typeface="Arial" panose="020B0604020202020204" pitchFamily="34" charset="0"/>
                <a:cs typeface="Arial" panose="020B0604020202020204" pitchFamily="34" charset="0"/>
              </a:rPr>
              <a:t> puertos 1 y 0 pero sin transmitir potencia entre los puertos iguales (0,0)(1,1). Esto es debido a la interferencia destructive entre los puertos.</a:t>
            </a: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82AE4A84-532D-D50D-F368-79FF1C11E97A}"/>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7" name="CuadroTexto 6">
            <a:extLst>
              <a:ext uri="{FF2B5EF4-FFF2-40B4-BE49-F238E27FC236}">
                <a16:creationId xmlns:a16="http://schemas.microsoft.com/office/drawing/2014/main" id="{024B9AF7-5B09-CE7C-68D9-8620B8F4F607}"/>
              </a:ext>
            </a:extLst>
          </p:cNvPr>
          <p:cNvSpPr txBox="1"/>
          <p:nvPr/>
        </p:nvSpPr>
        <p:spPr>
          <a:xfrm>
            <a:off x="1690195" y="2494306"/>
            <a:ext cx="3171061" cy="1154162"/>
          </a:xfrm>
          <a:prstGeom prst="rect">
            <a:avLst/>
          </a:prstGeom>
          <a:noFill/>
        </p:spPr>
        <p:txBody>
          <a:bodyPr wrap="none" rtlCol="0">
            <a:spAutoFit/>
          </a:bodyPr>
          <a:lstStyle/>
          <a:p>
            <a:pPr algn="ctr"/>
            <a:r>
              <a:rPr lang="es-ES" noProof="0" dirty="0"/>
              <a:t>MZI transfer </a:t>
            </a:r>
            <a:r>
              <a:rPr lang="es-ES" noProof="0" dirty="0" err="1"/>
              <a:t>functions</a:t>
            </a:r>
            <a:endParaRPr lang="es-ES" noProof="0" dirty="0"/>
          </a:p>
          <a:p>
            <a:pPr algn="ctr"/>
            <a:endParaRPr lang="es-ES" noProof="0" dirty="0"/>
          </a:p>
          <a:p>
            <a:pPr algn="ctr"/>
            <a:r>
              <a:rPr lang="es-ES" noProof="0" dirty="0"/>
              <a:t>Paste </a:t>
            </a:r>
            <a:r>
              <a:rPr lang="es-ES" noProof="0" dirty="0" err="1"/>
              <a:t>plot</a:t>
            </a:r>
            <a:r>
              <a:rPr lang="es-ES" noProof="0" dirty="0"/>
              <a:t> </a:t>
            </a:r>
            <a:r>
              <a:rPr lang="es-ES" noProof="0" dirty="0" err="1"/>
              <a:t>here</a:t>
            </a:r>
            <a:endParaRPr lang="es-ES" noProof="0" dirty="0"/>
          </a:p>
        </p:txBody>
      </p:sp>
      <p:pic>
        <p:nvPicPr>
          <p:cNvPr id="11" name="Picture 10">
            <a:extLst>
              <a:ext uri="{FF2B5EF4-FFF2-40B4-BE49-F238E27FC236}">
                <a16:creationId xmlns:a16="http://schemas.microsoft.com/office/drawing/2014/main" id="{E128DFBC-C348-1E74-CB97-AEDABE4BE6CF}"/>
              </a:ext>
            </a:extLst>
          </p:cNvPr>
          <p:cNvPicPr>
            <a:picLocks noChangeAspect="1"/>
          </p:cNvPicPr>
          <p:nvPr/>
        </p:nvPicPr>
        <p:blipFill>
          <a:blip r:embed="rId4"/>
          <a:stretch>
            <a:fillRect/>
          </a:stretch>
        </p:blipFill>
        <p:spPr>
          <a:xfrm>
            <a:off x="870897" y="1682664"/>
            <a:ext cx="4963805" cy="2781276"/>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EA17-A19F-F6ED-E241-A2268CBA45D6}"/>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DA69D816-535A-F5EE-E106-BA148A1B2DF6}"/>
              </a:ext>
            </a:extLst>
          </p:cNvPr>
          <p:cNvSpPr/>
          <p:nvPr/>
        </p:nvSpPr>
        <p:spPr>
          <a:xfrm>
            <a:off x="6401161" y="856106"/>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s-ES" sz="1600" noProof="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s-ES" sz="1600" noProof="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s-ES" sz="1600" noProof="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s-ES" sz="1600" noProof="0" dirty="0">
              <a:solidFill>
                <a:schemeClr val="tx1"/>
              </a:solidFill>
              <a:latin typeface="Arial" panose="020B0604020202020204" pitchFamily="34" charset="0"/>
              <a:cs typeface="Arial" panose="020B0604020202020204" pitchFamily="34" charset="0"/>
            </a:endParaRPr>
          </a:p>
          <a:p>
            <a:pPr algn="just"/>
            <a:endParaRPr lang="es-ES" sz="1600" noProof="0" dirty="0">
              <a:solidFill>
                <a:schemeClr val="tx1"/>
              </a:solidFill>
              <a:latin typeface="Arial" panose="020B0604020202020204" pitchFamily="34" charset="0"/>
              <a:cs typeface="Arial" panose="020B0604020202020204" pitchFamily="34" charset="0"/>
            </a:endParaRPr>
          </a:p>
          <a:p>
            <a:pPr algn="just"/>
            <a:endParaRPr lang="es-ES" sz="1600" noProof="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D79563BA-3258-C655-D121-E2E23B61FDB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#1b – Unbalanced MZI</a:t>
            </a:r>
            <a:br>
              <a:rPr lang="es-ES" sz="2500" spc="-5" noProof="0" dirty="0">
                <a:latin typeface="+mj-lt"/>
                <a:cs typeface="Lucida Sans"/>
              </a:rPr>
            </a:b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08B251FE-4B29-D52F-1DB1-9E5BBD8CFF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3FA43D9-CFE1-F872-DD44-E04BB1B18DFD}"/>
              </a:ext>
            </a:extLst>
          </p:cNvPr>
          <p:cNvSpPr>
            <a:spLocks noGrp="1"/>
          </p:cNvSpPr>
          <p:nvPr>
            <p:ph type="sldNum" sz="quarter" idx="7"/>
          </p:nvPr>
        </p:nvSpPr>
        <p:spPr/>
        <p:txBody>
          <a:bodyPr/>
          <a:lstStyle/>
          <a:p>
            <a:fld id="{B6F15528-21DE-4FAA-801E-634DDDAF4B2B}" type="slidenum">
              <a:rPr lang="es-ES" noProof="0" smtClean="0"/>
              <a:t>4</a:t>
            </a:fld>
            <a:endParaRPr lang="es-ES" noProof="0" dirty="0"/>
          </a:p>
        </p:txBody>
      </p:sp>
      <p:sp>
        <p:nvSpPr>
          <p:cNvPr id="3" name="Marcador de pie de página 2">
            <a:extLst>
              <a:ext uri="{FF2B5EF4-FFF2-40B4-BE49-F238E27FC236}">
                <a16:creationId xmlns:a16="http://schemas.microsoft.com/office/drawing/2014/main" id="{06710B9A-16F8-7A75-9BC8-FE3189874FB8}"/>
              </a:ext>
            </a:extLst>
          </p:cNvPr>
          <p:cNvSpPr>
            <a:spLocks noGrp="1"/>
          </p:cNvSpPr>
          <p:nvPr>
            <p:ph type="ftr" sz="quarter" idx="5"/>
          </p:nvPr>
        </p:nvSpPr>
        <p:spPr/>
        <p:txBody>
          <a:bodyPr/>
          <a:lstStyle/>
          <a:p>
            <a:pPr marL="12700">
              <a:spcBef>
                <a:spcPts val="15"/>
              </a:spcBef>
            </a:pPr>
            <a:r>
              <a:rPr lang="es-ES" spc="-5" noProof="0" dirty="0"/>
              <a:t>LAB 3.0. CIRCUITS &amp; COMPACT MODELS</a:t>
            </a:r>
          </a:p>
        </p:txBody>
      </p:sp>
      <p:sp>
        <p:nvSpPr>
          <p:cNvPr id="4" name="Marcador de texto 2">
            <a:extLst>
              <a:ext uri="{FF2B5EF4-FFF2-40B4-BE49-F238E27FC236}">
                <a16:creationId xmlns:a16="http://schemas.microsoft.com/office/drawing/2014/main" id="{0E86A2CB-D14B-54A7-9376-DAE1E4FF0284}"/>
              </a:ext>
            </a:extLst>
          </p:cNvPr>
          <p:cNvSpPr txBox="1">
            <a:spLocks/>
          </p:cNvSpPr>
          <p:nvPr/>
        </p:nvSpPr>
        <p:spPr>
          <a:xfrm>
            <a:off x="6554160" y="994724"/>
            <a:ext cx="5050811" cy="2895600"/>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s-ES" b="1" noProof="0" dirty="0"/>
              <a:t>HINTS: </a:t>
            </a:r>
          </a:p>
          <a:p>
            <a:pPr marL="0" indent="0" algn="just">
              <a:buNone/>
            </a:pPr>
            <a:r>
              <a:rPr lang="es-ES" noProof="0" dirty="0" err="1"/>
              <a:t>wvl</a:t>
            </a:r>
            <a:r>
              <a:rPr lang="es-ES" noProof="0" dirty="0"/>
              <a:t> [1500-1600] step 0.001</a:t>
            </a:r>
          </a:p>
          <a:p>
            <a:pPr algn="just"/>
            <a:r>
              <a:rPr lang="es-ES" noProof="0" dirty="0" err="1"/>
              <a:t>dL</a:t>
            </a:r>
            <a:r>
              <a:rPr lang="es-ES" noProof="0" dirty="0"/>
              <a:t> = </a:t>
            </a:r>
            <a:r>
              <a:rPr lang="es-ES" noProof="0" dirty="0">
                <a:latin typeface="Arial" panose="020B0604020202020204" pitchFamily="34" charset="0"/>
                <a:cs typeface="Arial" panose="020B0604020202020204" pitchFamily="34" charset="0"/>
                <a:sym typeface="Wingdings" pitchFamily="2" charset="2"/>
              </a:rPr>
              <a:t>100 µm</a:t>
            </a:r>
            <a:endParaRPr lang="es-ES" noProof="0" dirty="0"/>
          </a:p>
          <a:p>
            <a:pPr marL="0" indent="0" algn="just">
              <a:buNone/>
            </a:pPr>
            <a:r>
              <a:rPr lang="es-ES" noProof="0" dirty="0"/>
              <a:t>Kin = Kout = 0.5 </a:t>
            </a:r>
            <a:r>
              <a:rPr lang="es-ES" noProof="0" dirty="0" err="1"/>
              <a:t>for</a:t>
            </a:r>
            <a:r>
              <a:rPr lang="es-ES" noProof="0" dirty="0"/>
              <a:t> </a:t>
            </a:r>
            <a:r>
              <a:rPr lang="es-ES" noProof="0" dirty="0" err="1"/>
              <a:t>all</a:t>
            </a:r>
            <a:r>
              <a:rPr lang="es-ES" noProof="0" dirty="0"/>
              <a:t> </a:t>
            </a:r>
            <a:r>
              <a:rPr lang="es-ES" noProof="0" dirty="0" err="1"/>
              <a:t>wvl</a:t>
            </a:r>
            <a:endParaRPr lang="es-ES" noProof="0" dirty="0"/>
          </a:p>
          <a:p>
            <a:pPr algn="just"/>
            <a:endParaRPr lang="es-ES" sz="2000" b="1" i="1" noProof="0" dirty="0"/>
          </a:p>
        </p:txBody>
      </p:sp>
      <p:sp>
        <p:nvSpPr>
          <p:cNvPr id="2" name="CuadroTexto 1">
            <a:extLst>
              <a:ext uri="{FF2B5EF4-FFF2-40B4-BE49-F238E27FC236}">
                <a16:creationId xmlns:a16="http://schemas.microsoft.com/office/drawing/2014/main" id="{50C41089-061E-9B39-3904-6F31AFE073B8}"/>
              </a:ext>
            </a:extLst>
          </p:cNvPr>
          <p:cNvSpPr txBox="1"/>
          <p:nvPr/>
        </p:nvSpPr>
        <p:spPr>
          <a:xfrm>
            <a:off x="534202" y="4298067"/>
            <a:ext cx="11199971" cy="1938992"/>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a:latin typeface="Arial" panose="020B0604020202020204" pitchFamily="34" charset="0"/>
                <a:cs typeface="Arial" panose="020B0604020202020204" pitchFamily="34" charset="0"/>
              </a:rPr>
              <a:t>En las gráficas observamos que la energía se conserva, ya que cuando no se transmite por un puerto, se transmite por el otro. De esta forma se van alternando entre los puertos para transmitir la energía obteniendo una forma sinusoidal. Esto es debido a la interferencia destructive que aparece en los puertos cada cierta longitud de onda.</a:t>
            </a:r>
          </a:p>
          <a:p>
            <a:pPr algn="just"/>
            <a:endParaRPr lang="es-ES" sz="1200" noProof="0" dirty="0">
              <a:latin typeface="Arial" panose="020B0604020202020204" pitchFamily="34" charset="0"/>
              <a:cs typeface="Arial" panose="020B0604020202020204" pitchFamily="34" charset="0"/>
            </a:endParaRPr>
          </a:p>
          <a:p>
            <a:pPr algn="just"/>
            <a:r>
              <a:rPr lang="es-ES" sz="1200" noProof="0" dirty="0">
                <a:latin typeface="Arial" panose="020B0604020202020204" pitchFamily="34" charset="0"/>
                <a:cs typeface="Arial" panose="020B0604020202020204" pitchFamily="34" charset="0"/>
              </a:rPr>
              <a:t>El FSR viene dado por la ecuación:                                      Teniendo en cuenta que la diferencia de longitud es de 100 </a:t>
            </a:r>
            <a:r>
              <a:rPr lang="es-ES" sz="1200" noProof="0" dirty="0" err="1">
                <a:latin typeface="Arial" panose="020B0604020202020204" pitchFamily="34" charset="0"/>
                <a:cs typeface="Arial" panose="020B0604020202020204" pitchFamily="34" charset="0"/>
              </a:rPr>
              <a:t>um</a:t>
            </a:r>
            <a:r>
              <a:rPr lang="es-ES" sz="1200" noProof="0" dirty="0">
                <a:latin typeface="Arial" panose="020B0604020202020204" pitchFamily="34" charset="0"/>
                <a:cs typeface="Arial" panose="020B0604020202020204" pitchFamily="34" charset="0"/>
              </a:rPr>
              <a:t> y a una longitud de onda de 1523 nm, obtenemos el valor de FSR = 5.46nm.</a:t>
            </a:r>
          </a:p>
          <a:p>
            <a:pPr algn="just"/>
            <a:endParaRPr lang="es-ES" sz="1200" noProof="0" dirty="0">
              <a:latin typeface="Arial" panose="020B0604020202020204" pitchFamily="34" charset="0"/>
              <a:cs typeface="Arial" panose="020B0604020202020204" pitchFamily="34" charset="0"/>
            </a:endParaRPr>
          </a:p>
          <a:p>
            <a:pPr algn="just"/>
            <a:r>
              <a:rPr lang="es-ES" sz="1200" noProof="0" dirty="0">
                <a:latin typeface="Arial" panose="020B0604020202020204" pitchFamily="34" charset="0"/>
                <a:cs typeface="Arial" panose="020B0604020202020204" pitchFamily="34" charset="0"/>
              </a:rPr>
              <a:t>También podemos obtener el FSR de manera visual mediante la gráfica, para conseguirlo tenemos que observar la distancia entre máximos. Como en 1500 hay un máximo y en unos 1540 está el séptimo máximo, como es una función periódica, al dividir la distancia entre los dos máximos por el número de máximos obtenemos la distancia entre dos máximos consecutivos, siendo esta (1540-1500)/7 = 5.7, que no difiere en gran medida del calculado anteriormente.</a:t>
            </a:r>
          </a:p>
        </p:txBody>
      </p:sp>
      <p:sp>
        <p:nvSpPr>
          <p:cNvPr id="6" name="Rectángulo 5">
            <a:extLst>
              <a:ext uri="{FF2B5EF4-FFF2-40B4-BE49-F238E27FC236}">
                <a16:creationId xmlns:a16="http://schemas.microsoft.com/office/drawing/2014/main" id="{F95B976F-6522-EA3D-1323-5C97E9F88EDF}"/>
              </a:ext>
            </a:extLst>
          </p:cNvPr>
          <p:cNvSpPr/>
          <p:nvPr/>
        </p:nvSpPr>
        <p:spPr>
          <a:xfrm>
            <a:off x="534202" y="8561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7" name="CuadroTexto 6">
            <a:extLst>
              <a:ext uri="{FF2B5EF4-FFF2-40B4-BE49-F238E27FC236}">
                <a16:creationId xmlns:a16="http://schemas.microsoft.com/office/drawing/2014/main" id="{8934523B-51D9-2926-EAC0-7EAD4D1D5B75}"/>
              </a:ext>
            </a:extLst>
          </p:cNvPr>
          <p:cNvSpPr txBox="1"/>
          <p:nvPr/>
        </p:nvSpPr>
        <p:spPr>
          <a:xfrm>
            <a:off x="1690195" y="2494306"/>
            <a:ext cx="3171061" cy="1154162"/>
          </a:xfrm>
          <a:prstGeom prst="rect">
            <a:avLst/>
          </a:prstGeom>
          <a:noFill/>
        </p:spPr>
        <p:txBody>
          <a:bodyPr wrap="none" rtlCol="0">
            <a:spAutoFit/>
          </a:bodyPr>
          <a:lstStyle/>
          <a:p>
            <a:pPr algn="ctr"/>
            <a:r>
              <a:rPr lang="es-ES" noProof="0" dirty="0"/>
              <a:t>MZI transfer </a:t>
            </a:r>
            <a:r>
              <a:rPr lang="es-ES" noProof="0" dirty="0" err="1"/>
              <a:t>functions</a:t>
            </a:r>
            <a:endParaRPr lang="es-ES" noProof="0" dirty="0"/>
          </a:p>
          <a:p>
            <a:pPr algn="ctr"/>
            <a:endParaRPr lang="es-ES" noProof="0" dirty="0"/>
          </a:p>
          <a:p>
            <a:pPr algn="ctr"/>
            <a:r>
              <a:rPr lang="es-ES" noProof="0" dirty="0"/>
              <a:t>Paste </a:t>
            </a:r>
            <a:r>
              <a:rPr lang="es-ES" noProof="0" dirty="0" err="1"/>
              <a:t>plot</a:t>
            </a:r>
            <a:r>
              <a:rPr lang="es-ES" noProof="0" dirty="0"/>
              <a:t> </a:t>
            </a:r>
            <a:r>
              <a:rPr lang="es-ES" noProof="0" dirty="0" err="1"/>
              <a:t>here</a:t>
            </a:r>
            <a:endParaRPr lang="es-ES" noProof="0" dirty="0"/>
          </a:p>
        </p:txBody>
      </p:sp>
      <p:pic>
        <p:nvPicPr>
          <p:cNvPr id="9" name="Picture 8">
            <a:extLst>
              <a:ext uri="{FF2B5EF4-FFF2-40B4-BE49-F238E27FC236}">
                <a16:creationId xmlns:a16="http://schemas.microsoft.com/office/drawing/2014/main" id="{3F1D1409-8165-0B2A-907A-C2149005A4C3}"/>
              </a:ext>
            </a:extLst>
          </p:cNvPr>
          <p:cNvPicPr>
            <a:picLocks noChangeAspect="1"/>
          </p:cNvPicPr>
          <p:nvPr/>
        </p:nvPicPr>
        <p:blipFill>
          <a:blip r:embed="rId4"/>
          <a:stretch>
            <a:fillRect/>
          </a:stretch>
        </p:blipFill>
        <p:spPr>
          <a:xfrm>
            <a:off x="610561" y="1112563"/>
            <a:ext cx="5195839" cy="2844871"/>
          </a:xfrm>
          <a:prstGeom prst="rect">
            <a:avLst/>
          </a:prstGeom>
        </p:spPr>
      </p:pic>
      <p:pic>
        <p:nvPicPr>
          <p:cNvPr id="10" name="Picture 9">
            <a:extLst>
              <a:ext uri="{FF2B5EF4-FFF2-40B4-BE49-F238E27FC236}">
                <a16:creationId xmlns:a16="http://schemas.microsoft.com/office/drawing/2014/main" id="{558F0E05-B8CA-542F-C870-5E884BDD3006}"/>
              </a:ext>
            </a:extLst>
          </p:cNvPr>
          <p:cNvPicPr>
            <a:picLocks noChangeAspect="1"/>
          </p:cNvPicPr>
          <p:nvPr/>
        </p:nvPicPr>
        <p:blipFill>
          <a:blip r:embed="rId5"/>
          <a:stretch>
            <a:fillRect/>
          </a:stretch>
        </p:blipFill>
        <p:spPr>
          <a:xfrm>
            <a:off x="3275725" y="5267563"/>
            <a:ext cx="1552495" cy="782265"/>
          </a:xfrm>
          <a:prstGeom prst="rect">
            <a:avLst/>
          </a:prstGeom>
        </p:spPr>
      </p:pic>
    </p:spTree>
    <p:extLst>
      <p:ext uri="{BB962C8B-B14F-4D97-AF65-F5344CB8AC3E}">
        <p14:creationId xmlns:p14="http://schemas.microsoft.com/office/powerpoint/2010/main" val="2395180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s-ES" noProof="0" dirty="0"/>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s-ES" noProof="0" smtClean="0"/>
              <a:pPr/>
              <a:t>5</a:t>
            </a:fld>
            <a:endParaRPr lang="es-ES" noProof="0"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1015663"/>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a:latin typeface="Arial" panose="020B0604020202020204" pitchFamily="34" charset="0"/>
                <a:cs typeface="Arial" panose="020B0604020202020204" pitchFamily="34" charset="0"/>
              </a:rPr>
              <a:t>Podemos ver que efectivamente se tiene un FSR de 2 nm, aunque se ha tenido que acortar el Arango visible de la gráfica para poder observarlo correctamente.</a:t>
            </a:r>
          </a:p>
          <a:p>
            <a:pPr algn="just"/>
            <a:r>
              <a:rPr lang="es-ES" sz="1200" noProof="0" dirty="0">
                <a:latin typeface="Arial" panose="020B0604020202020204" pitchFamily="34" charset="0"/>
                <a:cs typeface="Arial" panose="020B0604020202020204" pitchFamily="34" charset="0"/>
              </a:rPr>
              <a:t>En la gráfica también podemos ver el cumplimiento de la conservación de energía como hemos analizado anteriormente.</a:t>
            </a:r>
          </a:p>
          <a:p>
            <a:pPr algn="just"/>
            <a:r>
              <a:rPr lang="es-ES" sz="1200" noProof="0" dirty="0">
                <a:latin typeface="Arial" panose="020B0604020202020204" pitchFamily="34" charset="0"/>
                <a:cs typeface="Arial" panose="020B0604020202020204" pitchFamily="34" charset="0"/>
              </a:rPr>
              <a:t> </a:t>
            </a: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12" name="CuadroTexto 11">
            <a:extLst>
              <a:ext uri="{FF2B5EF4-FFF2-40B4-BE49-F238E27FC236}">
                <a16:creationId xmlns:a16="http://schemas.microsoft.com/office/drawing/2014/main" id="{1D17C364-5A66-F740-B152-8B41A2A4EF26}"/>
              </a:ext>
            </a:extLst>
          </p:cNvPr>
          <p:cNvSpPr txBox="1"/>
          <p:nvPr/>
        </p:nvSpPr>
        <p:spPr>
          <a:xfrm>
            <a:off x="5305711" y="2494307"/>
            <a:ext cx="2494977" cy="1015663"/>
          </a:xfrm>
          <a:prstGeom prst="rect">
            <a:avLst/>
          </a:prstGeom>
          <a:noFill/>
        </p:spPr>
        <p:txBody>
          <a:bodyPr wrap="none" rtlCol="0">
            <a:spAutoFit/>
          </a:bodyPr>
          <a:lstStyle/>
          <a:p>
            <a:pPr algn="ctr"/>
            <a:r>
              <a:rPr lang="es-ES" sz="2000" noProof="0" dirty="0"/>
              <a:t>MZI transfer </a:t>
            </a:r>
            <a:r>
              <a:rPr lang="es-ES" sz="2000" noProof="0" dirty="0" err="1"/>
              <a:t>functions</a:t>
            </a:r>
            <a:endParaRPr lang="es-ES" sz="2000" noProof="0" dirty="0"/>
          </a:p>
          <a:p>
            <a:pPr algn="ctr"/>
            <a:endParaRPr lang="es-ES" sz="2000" noProof="0" dirty="0"/>
          </a:p>
          <a:p>
            <a:pPr algn="ctr"/>
            <a:r>
              <a:rPr lang="es-ES" sz="2000" noProof="0" dirty="0"/>
              <a:t>Paste </a:t>
            </a:r>
            <a:r>
              <a:rPr lang="es-ES" sz="2000" noProof="0" dirty="0" err="1"/>
              <a:t>plot</a:t>
            </a:r>
            <a:r>
              <a:rPr lang="es-ES" sz="2000" noProof="0" dirty="0"/>
              <a:t> </a:t>
            </a:r>
            <a:r>
              <a:rPr lang="es-ES" sz="2000" noProof="0" dirty="0" err="1"/>
              <a:t>here</a:t>
            </a:r>
            <a:endParaRPr lang="es-ES" sz="2000" noProof="0" dirty="0"/>
          </a:p>
        </p:txBody>
      </p:sp>
      <p:sp>
        <p:nvSpPr>
          <p:cNvPr id="3" name="Rectángulo 2">
            <a:extLst>
              <a:ext uri="{FF2B5EF4-FFF2-40B4-BE49-F238E27FC236}">
                <a16:creationId xmlns:a16="http://schemas.microsoft.com/office/drawing/2014/main" id="{5FB43DF1-4048-35BF-BD58-4BF2A341D2EF}"/>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s-ES" b="1" noProof="0" dirty="0" err="1">
                <a:solidFill>
                  <a:schemeClr val="tx1"/>
                </a:solidFill>
                <a:latin typeface="Arial" panose="020B0604020202020204" pitchFamily="34" charset="0"/>
                <a:cs typeface="Arial" panose="020B0604020202020204" pitchFamily="34" charset="0"/>
              </a:rPr>
              <a:t>Hints</a:t>
            </a:r>
            <a:r>
              <a:rPr lang="es-ES" b="1" noProof="0" dirty="0">
                <a:solidFill>
                  <a:schemeClr val="tx1"/>
                </a:solidFill>
                <a:latin typeface="Arial" panose="020B0604020202020204" pitchFamily="34" charset="0"/>
                <a:cs typeface="Arial" panose="020B0604020202020204" pitchFamily="34" charset="0"/>
              </a:rPr>
              <a:t>:</a:t>
            </a:r>
            <a:endParaRPr lang="es-ES" noProof="0" dirty="0">
              <a:solidFill>
                <a:schemeClr val="tx1"/>
              </a:solidFill>
              <a:latin typeface="Arial" panose="020B0604020202020204" pitchFamily="34" charset="0"/>
              <a:cs typeface="Arial" panose="020B0604020202020204" pitchFamily="34" charset="0"/>
            </a:endParaRPr>
          </a:p>
          <a:p>
            <a:pPr algn="just"/>
            <a:r>
              <a:rPr lang="es-ES" noProof="0" dirty="0" err="1">
                <a:solidFill>
                  <a:schemeClr val="tx1"/>
                </a:solidFill>
                <a:latin typeface="Arial" panose="020B0604020202020204" pitchFamily="34" charset="0"/>
                <a:cs typeface="Arial" panose="020B0604020202020204" pitchFamily="34" charset="0"/>
                <a:sym typeface="Wingdings" pitchFamily="2" charset="2"/>
              </a:rPr>
              <a:t>wvl</a:t>
            </a:r>
            <a:r>
              <a:rPr lang="es-ES" noProof="0" dirty="0">
                <a:solidFill>
                  <a:schemeClr val="tx1"/>
                </a:solidFill>
                <a:latin typeface="Arial" panose="020B0604020202020204" pitchFamily="34" charset="0"/>
                <a:cs typeface="Arial" panose="020B0604020202020204" pitchFamily="34" charset="0"/>
                <a:sym typeface="Wingdings" pitchFamily="2" charset="2"/>
              </a:rPr>
              <a:t> [1500-1600] step 0.001</a:t>
            </a:r>
          </a:p>
          <a:p>
            <a:pPr algn="just"/>
            <a:r>
              <a:rPr lang="es-ES" noProof="0" dirty="0" err="1">
                <a:solidFill>
                  <a:schemeClr val="tx1"/>
                </a:solidFill>
                <a:latin typeface="Arial" panose="020B0604020202020204" pitchFamily="34" charset="0"/>
                <a:cs typeface="Arial" panose="020B0604020202020204" pitchFamily="34" charset="0"/>
                <a:sym typeface="Wingdings" pitchFamily="2" charset="2"/>
              </a:rPr>
              <a:t>dL</a:t>
            </a:r>
            <a:r>
              <a:rPr lang="es-ES" noProof="0" dirty="0">
                <a:solidFill>
                  <a:schemeClr val="tx1"/>
                </a:solidFill>
                <a:latin typeface="Arial" panose="020B0604020202020204" pitchFamily="34" charset="0"/>
                <a:cs typeface="Arial" panose="020B0604020202020204" pitchFamily="34" charset="0"/>
                <a:sym typeface="Wingdings" pitchFamily="2" charset="2"/>
              </a:rPr>
              <a:t> = ? µm </a:t>
            </a:r>
            <a:r>
              <a:rPr lang="es-ES" b="1" noProof="0" dirty="0" err="1">
                <a:solidFill>
                  <a:schemeClr val="tx1"/>
                </a:solidFill>
                <a:latin typeface="Arial" panose="020B0604020202020204" pitchFamily="34" charset="0"/>
                <a:cs typeface="Arial" panose="020B0604020202020204" pitchFamily="34" charset="0"/>
                <a:sym typeface="Wingdings" pitchFamily="2" charset="2"/>
              </a:rPr>
              <a:t>calculate</a:t>
            </a:r>
            <a:r>
              <a:rPr lang="es-ES" b="1" noProof="0" dirty="0">
                <a:solidFill>
                  <a:schemeClr val="tx1"/>
                </a:solidFill>
                <a:latin typeface="Arial" panose="020B0604020202020204" pitchFamily="34" charset="0"/>
                <a:cs typeface="Arial" panose="020B0604020202020204" pitchFamily="34" charset="0"/>
                <a:sym typeface="Wingdings" pitchFamily="2" charset="2"/>
              </a:rPr>
              <a:t> </a:t>
            </a:r>
            <a:r>
              <a:rPr lang="es-ES" b="1" noProof="0" dirty="0" err="1">
                <a:solidFill>
                  <a:schemeClr val="tx1"/>
                </a:solidFill>
                <a:latin typeface="Arial" panose="020B0604020202020204" pitchFamily="34" charset="0"/>
                <a:cs typeface="Arial" panose="020B0604020202020204" pitchFamily="34" charset="0"/>
                <a:sym typeface="Wingdings" pitchFamily="2" charset="2"/>
              </a:rPr>
              <a:t>for</a:t>
            </a:r>
            <a:r>
              <a:rPr lang="es-ES" b="1" noProof="0" dirty="0">
                <a:solidFill>
                  <a:schemeClr val="tx1"/>
                </a:solidFill>
                <a:latin typeface="Arial" panose="020B0604020202020204" pitchFamily="34" charset="0"/>
                <a:cs typeface="Arial" panose="020B0604020202020204" pitchFamily="34" charset="0"/>
                <a:sym typeface="Wingdings" pitchFamily="2" charset="2"/>
              </a:rPr>
              <a:t> FSR = 2 nm </a:t>
            </a:r>
          </a:p>
          <a:p>
            <a:pPr algn="just"/>
            <a:r>
              <a:rPr lang="es-ES" noProof="0" dirty="0">
                <a:solidFill>
                  <a:schemeClr val="tx1"/>
                </a:solidFill>
                <a:latin typeface="Arial" panose="020B0604020202020204" pitchFamily="34" charset="0"/>
                <a:cs typeface="Arial" panose="020B0604020202020204" pitchFamily="34" charset="0"/>
                <a:sym typeface="Wingdings" pitchFamily="2" charset="2"/>
              </a:rPr>
              <a:t>Ka = Kb = 0.5 </a:t>
            </a:r>
            <a:r>
              <a:rPr lang="es-ES" noProof="0" dirty="0" err="1">
                <a:solidFill>
                  <a:schemeClr val="tx1"/>
                </a:solidFill>
                <a:latin typeface="Arial" panose="020B0604020202020204" pitchFamily="34" charset="0"/>
                <a:cs typeface="Arial" panose="020B0604020202020204" pitchFamily="34" charset="0"/>
                <a:sym typeface="Wingdings" pitchFamily="2" charset="2"/>
              </a:rPr>
              <a:t>for</a:t>
            </a:r>
            <a:r>
              <a:rPr lang="es-ES" noProof="0" dirty="0">
                <a:solidFill>
                  <a:schemeClr val="tx1"/>
                </a:solidFill>
                <a:latin typeface="Arial" panose="020B0604020202020204" pitchFamily="34" charset="0"/>
                <a:cs typeface="Arial" panose="020B0604020202020204" pitchFamily="34" charset="0"/>
                <a:sym typeface="Wingdings" pitchFamily="2" charset="2"/>
              </a:rPr>
              <a:t> </a:t>
            </a:r>
            <a:r>
              <a:rPr lang="es-ES" noProof="0" dirty="0" err="1">
                <a:solidFill>
                  <a:schemeClr val="tx1"/>
                </a:solidFill>
                <a:latin typeface="Arial" panose="020B0604020202020204" pitchFamily="34" charset="0"/>
                <a:cs typeface="Arial" panose="020B0604020202020204" pitchFamily="34" charset="0"/>
                <a:sym typeface="Wingdings" pitchFamily="2" charset="2"/>
              </a:rPr>
              <a:t>all</a:t>
            </a:r>
            <a:r>
              <a:rPr lang="es-ES" noProof="0" dirty="0">
                <a:solidFill>
                  <a:schemeClr val="tx1"/>
                </a:solidFill>
                <a:latin typeface="Arial" panose="020B0604020202020204" pitchFamily="34" charset="0"/>
                <a:cs typeface="Arial" panose="020B0604020202020204" pitchFamily="34" charset="0"/>
                <a:sym typeface="Wingdings" pitchFamily="2" charset="2"/>
              </a:rPr>
              <a:t> </a:t>
            </a:r>
            <a:r>
              <a:rPr lang="es-ES" noProof="0" dirty="0" err="1">
                <a:solidFill>
                  <a:schemeClr val="tx1"/>
                </a:solidFill>
                <a:latin typeface="Arial" panose="020B0604020202020204" pitchFamily="34" charset="0"/>
                <a:cs typeface="Arial" panose="020B0604020202020204" pitchFamily="34" charset="0"/>
                <a:sym typeface="Wingdings" pitchFamily="2" charset="2"/>
              </a:rPr>
              <a:t>wvl</a:t>
            </a:r>
            <a:endParaRPr lang="es-ES" noProof="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s-ES" sz="1200" noProof="0" dirty="0">
              <a:solidFill>
                <a:schemeClr val="tx1"/>
              </a:solidFill>
              <a:latin typeface="Arial" panose="020B0604020202020204" pitchFamily="34" charset="0"/>
              <a:cs typeface="Arial" panose="020B0604020202020204" pitchFamily="34" charset="0"/>
            </a:endParaRPr>
          </a:p>
          <a:p>
            <a:pPr algn="just"/>
            <a:endParaRPr lang="es-ES" sz="1200" noProof="0" dirty="0">
              <a:solidFill>
                <a:schemeClr val="tx1"/>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464820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pic>
        <p:nvPicPr>
          <p:cNvPr id="10" name="Gráfico 9">
            <a:extLst>
              <a:ext uri="{FF2B5EF4-FFF2-40B4-BE49-F238E27FC236}">
                <a16:creationId xmlns:a16="http://schemas.microsoft.com/office/drawing/2014/main" id="{C582D9ED-A2CE-6C08-D473-4C1FC636E8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98DA9316-CFD5-58C0-735F-237403D53172}"/>
              </a:ext>
            </a:extLst>
          </p:cNvPr>
          <p:cNvSpPr txBox="1">
            <a:spLocks/>
          </p:cNvSpPr>
          <p:nvPr/>
        </p:nvSpPr>
        <p:spPr>
          <a:xfrm>
            <a:off x="685800" y="408883"/>
            <a:ext cx="10994410" cy="1025922"/>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s-ES" sz="2500" kern="0" noProof="0" dirty="0" err="1"/>
              <a:t>Learning</a:t>
            </a:r>
            <a:r>
              <a:rPr lang="es-ES" sz="2500" kern="0" noProof="0" dirty="0"/>
              <a:t> </a:t>
            </a:r>
            <a:r>
              <a:rPr lang="es-ES" sz="2500" kern="0" noProof="0" dirty="0" err="1"/>
              <a:t>outcome</a:t>
            </a:r>
            <a:r>
              <a:rPr lang="es-ES" sz="2500" kern="0" noProof="0" dirty="0"/>
              <a:t> #2 – MZI </a:t>
            </a:r>
            <a:r>
              <a:rPr lang="es-ES" sz="2500" kern="0" noProof="0" dirty="0" err="1"/>
              <a:t>Design</a:t>
            </a:r>
            <a:endParaRPr lang="es-ES" sz="2500" kern="0" noProof="0" dirty="0"/>
          </a:p>
          <a:p>
            <a:pPr marL="12700">
              <a:spcBef>
                <a:spcPts val="100"/>
              </a:spcBef>
            </a:pPr>
            <a:r>
              <a:rPr lang="es-ES" b="0" kern="0" spc="-5" noProof="0" dirty="0" err="1">
                <a:latin typeface="+mj-lt"/>
                <a:cs typeface="Lucida Sans"/>
              </a:rPr>
              <a:t>Design</a:t>
            </a:r>
            <a:r>
              <a:rPr lang="es-ES" b="0" kern="0" spc="-5" noProof="0" dirty="0">
                <a:latin typeface="+mj-lt"/>
                <a:cs typeface="Lucida Sans"/>
              </a:rPr>
              <a:t> a MZI </a:t>
            </a:r>
            <a:r>
              <a:rPr lang="es-ES" b="0" kern="0" spc="-5" noProof="0" dirty="0" err="1">
                <a:latin typeface="+mj-lt"/>
                <a:cs typeface="Lucida Sans"/>
              </a:rPr>
              <a:t>with</a:t>
            </a:r>
            <a:r>
              <a:rPr lang="es-ES" b="0" kern="0" spc="-5" noProof="0" dirty="0">
                <a:latin typeface="+mj-lt"/>
                <a:cs typeface="Lucida Sans"/>
              </a:rPr>
              <a:t> FSR = 10 nm at 1550 nm</a:t>
            </a:r>
            <a:br>
              <a:rPr lang="es-ES" b="0" kern="0" spc="-5" noProof="0" dirty="0">
                <a:latin typeface="+mj-lt"/>
                <a:cs typeface="Lucida Sans"/>
              </a:rPr>
            </a:br>
            <a:endParaRPr lang="es-ES" b="0" kern="0" noProof="0" dirty="0">
              <a:latin typeface="+mj-lt"/>
              <a:cs typeface="Lucida Sans"/>
            </a:endParaRPr>
          </a:p>
        </p:txBody>
      </p:sp>
      <p:pic>
        <p:nvPicPr>
          <p:cNvPr id="9" name="Picture 8">
            <a:extLst>
              <a:ext uri="{FF2B5EF4-FFF2-40B4-BE49-F238E27FC236}">
                <a16:creationId xmlns:a16="http://schemas.microsoft.com/office/drawing/2014/main" id="{6D3B50AF-A251-752D-AAE6-ADC98017F537}"/>
              </a:ext>
            </a:extLst>
          </p:cNvPr>
          <p:cNvPicPr>
            <a:picLocks noChangeAspect="1"/>
          </p:cNvPicPr>
          <p:nvPr/>
        </p:nvPicPr>
        <p:blipFill>
          <a:blip r:embed="rId3"/>
          <a:stretch>
            <a:fillRect/>
          </a:stretch>
        </p:blipFill>
        <p:spPr>
          <a:xfrm>
            <a:off x="2709367" y="1506235"/>
            <a:ext cx="1154787" cy="675973"/>
          </a:xfrm>
          <a:prstGeom prst="rect">
            <a:avLst/>
          </a:prstGeom>
        </p:spPr>
      </p:pic>
      <p:sp>
        <p:nvSpPr>
          <p:cNvPr id="16" name="TextBox 15">
            <a:extLst>
              <a:ext uri="{FF2B5EF4-FFF2-40B4-BE49-F238E27FC236}">
                <a16:creationId xmlns:a16="http://schemas.microsoft.com/office/drawing/2014/main" id="{3E645E56-B290-AF85-62BC-79F0E2B3138B}"/>
              </a:ext>
            </a:extLst>
          </p:cNvPr>
          <p:cNvSpPr txBox="1"/>
          <p:nvPr/>
        </p:nvSpPr>
        <p:spPr>
          <a:xfrm>
            <a:off x="685800" y="1654970"/>
            <a:ext cx="2023567" cy="307777"/>
          </a:xfrm>
          <a:prstGeom prst="rect">
            <a:avLst/>
          </a:prstGeom>
          <a:noFill/>
        </p:spPr>
        <p:txBody>
          <a:bodyPr wrap="none" rtlCol="0">
            <a:spAutoFit/>
          </a:bodyPr>
          <a:lstStyle/>
          <a:p>
            <a:r>
              <a:rPr lang="es-ES" sz="1400" noProof="0" dirty="0"/>
              <a:t>La ecuación a utilizar es:  </a:t>
            </a:r>
          </a:p>
        </p:txBody>
      </p:sp>
      <p:sp>
        <p:nvSpPr>
          <p:cNvPr id="17" name="TextBox 16">
            <a:extLst>
              <a:ext uri="{FF2B5EF4-FFF2-40B4-BE49-F238E27FC236}">
                <a16:creationId xmlns:a16="http://schemas.microsoft.com/office/drawing/2014/main" id="{85F888ED-1D04-4119-B1AC-79160A6F2D73}"/>
              </a:ext>
            </a:extLst>
          </p:cNvPr>
          <p:cNvSpPr txBox="1"/>
          <p:nvPr/>
        </p:nvSpPr>
        <p:spPr>
          <a:xfrm>
            <a:off x="609600" y="2330943"/>
            <a:ext cx="3886641" cy="1169551"/>
          </a:xfrm>
          <a:prstGeom prst="rect">
            <a:avLst/>
          </a:prstGeom>
          <a:noFill/>
        </p:spPr>
        <p:txBody>
          <a:bodyPr wrap="none" rtlCol="0">
            <a:spAutoFit/>
          </a:bodyPr>
          <a:lstStyle/>
          <a:p>
            <a:r>
              <a:rPr lang="es-ES" sz="1400" noProof="0" dirty="0"/>
              <a:t>Donde la longitud de onda tomamos 1550 nm. </a:t>
            </a:r>
          </a:p>
          <a:p>
            <a:r>
              <a:rPr lang="es-ES" sz="1400" noProof="0" dirty="0"/>
              <a:t>Se nos pide que el FSR sea 2 nm, y en el modelo de</a:t>
            </a:r>
          </a:p>
          <a:p>
            <a:r>
              <a:rPr lang="es-ES" sz="1400" noProof="0" dirty="0"/>
              <a:t>las guías se indica que el índice de grupo es 2.</a:t>
            </a:r>
          </a:p>
          <a:p>
            <a:endParaRPr lang="es-ES" sz="1400" noProof="0" dirty="0"/>
          </a:p>
          <a:p>
            <a:r>
              <a:rPr lang="es-ES" sz="1400" noProof="0" dirty="0"/>
              <a:t>Con esto obtenemos un </a:t>
            </a:r>
            <a:r>
              <a:rPr lang="es-ES" sz="1400" noProof="0" dirty="0" err="1"/>
              <a:t>dL</a:t>
            </a:r>
            <a:r>
              <a:rPr lang="es-ES" sz="1400" noProof="0" dirty="0"/>
              <a:t> de 600.625 </a:t>
            </a:r>
            <a:r>
              <a:rPr lang="es-ES" sz="1400" noProof="0" dirty="0" err="1"/>
              <a:t>um</a:t>
            </a:r>
            <a:endParaRPr lang="es-ES" sz="1400" noProof="0" dirty="0"/>
          </a:p>
        </p:txBody>
      </p:sp>
      <p:pic>
        <p:nvPicPr>
          <p:cNvPr id="19" name="Picture 18">
            <a:extLst>
              <a:ext uri="{FF2B5EF4-FFF2-40B4-BE49-F238E27FC236}">
                <a16:creationId xmlns:a16="http://schemas.microsoft.com/office/drawing/2014/main" id="{1BB6FBF4-B98E-470E-8671-5DC4E9EB60AD}"/>
              </a:ext>
            </a:extLst>
          </p:cNvPr>
          <p:cNvPicPr>
            <a:picLocks noChangeAspect="1"/>
          </p:cNvPicPr>
          <p:nvPr/>
        </p:nvPicPr>
        <p:blipFill>
          <a:blip r:embed="rId4"/>
          <a:stretch>
            <a:fillRect/>
          </a:stretch>
        </p:blipFill>
        <p:spPr>
          <a:xfrm>
            <a:off x="4490698" y="1959015"/>
            <a:ext cx="4076473" cy="2231985"/>
          </a:xfrm>
          <a:prstGeom prst="rect">
            <a:avLst/>
          </a:prstGeom>
        </p:spPr>
      </p:pic>
    </p:spTree>
    <p:extLst>
      <p:ext uri="{BB962C8B-B14F-4D97-AF65-F5344CB8AC3E}">
        <p14:creationId xmlns:p14="http://schemas.microsoft.com/office/powerpoint/2010/main" val="122265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636B-7BF0-5143-57E9-673FF1B33E8E}"/>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D79F9CCB-631D-A124-3694-9DBF91E01CAA}"/>
              </a:ext>
            </a:extLst>
          </p:cNvPr>
          <p:cNvSpPr>
            <a:spLocks noGrp="1"/>
          </p:cNvSpPr>
          <p:nvPr>
            <p:ph type="ftr" sz="quarter" idx="5"/>
          </p:nvPr>
        </p:nvSpPr>
        <p:spPr/>
        <p:txBody>
          <a:bodyPr/>
          <a:lstStyle/>
          <a:p>
            <a:r>
              <a:rPr lang="es-ES" noProof="0" dirty="0"/>
              <a:t>LAB 3.0. CIRCUITS &amp; COMPACT MODELS</a:t>
            </a:r>
          </a:p>
        </p:txBody>
      </p:sp>
      <p:sp>
        <p:nvSpPr>
          <p:cNvPr id="6" name="Marcador de número de diapositiva 5">
            <a:extLst>
              <a:ext uri="{FF2B5EF4-FFF2-40B4-BE49-F238E27FC236}">
                <a16:creationId xmlns:a16="http://schemas.microsoft.com/office/drawing/2014/main" id="{DED76083-7F21-5E97-9AC1-DEEB9C8B23CA}"/>
              </a:ext>
            </a:extLst>
          </p:cNvPr>
          <p:cNvSpPr>
            <a:spLocks noGrp="1"/>
          </p:cNvSpPr>
          <p:nvPr>
            <p:ph type="sldNum" sz="quarter" idx="7"/>
          </p:nvPr>
        </p:nvSpPr>
        <p:spPr/>
        <p:txBody>
          <a:bodyPr/>
          <a:lstStyle/>
          <a:p>
            <a:fld id="{C2F52289-4012-4053-9770-FE82CEB9514F}" type="slidenum">
              <a:rPr lang="es-ES" noProof="0" smtClean="0"/>
              <a:pPr/>
              <a:t>6</a:t>
            </a:fld>
            <a:endParaRPr lang="es-ES" noProof="0" dirty="0"/>
          </a:p>
        </p:txBody>
      </p:sp>
      <p:pic>
        <p:nvPicPr>
          <p:cNvPr id="10" name="Gráfico 9">
            <a:extLst>
              <a:ext uri="{FF2B5EF4-FFF2-40B4-BE49-F238E27FC236}">
                <a16:creationId xmlns:a16="http://schemas.microsoft.com/office/drawing/2014/main" id="{6A4FE9E0-92EE-4367-CEE1-FB072709D7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1E286371-F443-FD5C-BF57-FB23A8D7F4F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s-ES" sz="2500" kern="0" noProof="0" dirty="0" err="1"/>
              <a:t>Learning</a:t>
            </a:r>
            <a:r>
              <a:rPr lang="es-ES" sz="2500" kern="0" noProof="0" dirty="0"/>
              <a:t> </a:t>
            </a:r>
            <a:r>
              <a:rPr lang="es-ES" sz="2500" kern="0" noProof="0" dirty="0" err="1"/>
              <a:t>outcome</a:t>
            </a:r>
            <a:r>
              <a:rPr lang="es-ES" sz="2500" kern="0" noProof="0" dirty="0"/>
              <a:t> #3 – Delay </a:t>
            </a:r>
            <a:r>
              <a:rPr lang="es-ES" sz="2500" kern="0" noProof="0" dirty="0" err="1"/>
              <a:t>imbalance</a:t>
            </a:r>
            <a:r>
              <a:rPr lang="es-ES" sz="2500" kern="0" noProof="0" dirty="0"/>
              <a:t> </a:t>
            </a:r>
            <a:r>
              <a:rPr lang="es-ES" sz="2500" kern="0" noProof="0" dirty="0" err="1"/>
              <a:t>with</a:t>
            </a:r>
            <a:r>
              <a:rPr lang="es-ES" sz="2500" kern="0" noProof="0" dirty="0"/>
              <a:t> </a:t>
            </a:r>
            <a:r>
              <a:rPr lang="es-ES" sz="2500" kern="0" noProof="0" dirty="0" err="1"/>
              <a:t>loss</a:t>
            </a:r>
            <a:endParaRPr lang="es-ES" sz="2500" kern="0" noProof="0" dirty="0"/>
          </a:p>
          <a:p>
            <a:pPr marL="12700">
              <a:spcBef>
                <a:spcPts val="100"/>
              </a:spcBef>
            </a:pPr>
            <a:r>
              <a:rPr lang="es-ES" b="0" kern="0" spc="-5" noProof="0" dirty="0" err="1">
                <a:latin typeface="+mj-lt"/>
                <a:cs typeface="Lucida Sans"/>
              </a:rPr>
              <a:t>Fringe</a:t>
            </a:r>
            <a:r>
              <a:rPr lang="es-ES" b="0" kern="0" spc="-5" noProof="0" dirty="0">
                <a:latin typeface="+mj-lt"/>
                <a:cs typeface="Lucida Sans"/>
              </a:rPr>
              <a:t> </a:t>
            </a:r>
            <a:r>
              <a:rPr lang="es-ES" b="0" kern="0" spc="-5" noProof="0" dirty="0" err="1">
                <a:latin typeface="+mj-lt"/>
                <a:cs typeface="Lucida Sans"/>
              </a:rPr>
              <a:t>visibility</a:t>
            </a:r>
            <a:endParaRPr lang="es-ES" b="0" kern="0" noProof="0" dirty="0">
              <a:latin typeface="+mj-lt"/>
              <a:cs typeface="Lucida Sans"/>
            </a:endParaRPr>
          </a:p>
        </p:txBody>
      </p:sp>
      <p:sp>
        <p:nvSpPr>
          <p:cNvPr id="2" name="CuadroTexto 1">
            <a:extLst>
              <a:ext uri="{FF2B5EF4-FFF2-40B4-BE49-F238E27FC236}">
                <a16:creationId xmlns:a16="http://schemas.microsoft.com/office/drawing/2014/main" id="{F1C12A10-91CE-B5DA-9D77-267ED06AEAC2}"/>
              </a:ext>
            </a:extLst>
          </p:cNvPr>
          <p:cNvSpPr txBox="1"/>
          <p:nvPr/>
        </p:nvSpPr>
        <p:spPr>
          <a:xfrm>
            <a:off x="609600" y="4534860"/>
            <a:ext cx="11199971" cy="1938992"/>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a:latin typeface="Arial" panose="020B0604020202020204" pitchFamily="34" charset="0"/>
                <a:cs typeface="Arial" panose="020B0604020202020204" pitchFamily="34" charset="0"/>
              </a:rPr>
              <a:t>En la gráfica con Ka=Kb=0.5, podemos observar que se está en el intervalo entre -11.5 dB y -14 dB, mientras que en la de Ka=0.1 y Kb=0.5, se está entre -7.4 dB y -8.2 dB, esto es muestra de que la interferencia no llega a ser ni destructiva ni constructiva, sino que se queda a la mitad, provocando pérdidas de inserción. También podemos deducir que existen unas pérdidas de 22.38 dB.</a:t>
            </a:r>
          </a:p>
          <a:p>
            <a:pPr algn="just"/>
            <a:r>
              <a:rPr lang="es-ES" sz="1200" dirty="0">
                <a:latin typeface="Arial" panose="020B0604020202020204" pitchFamily="34" charset="0"/>
                <a:cs typeface="Arial" panose="020B0604020202020204" pitchFamily="34" charset="0"/>
              </a:rPr>
              <a:t>En las dos gráficas podemos ver patrones de interferencia, pero son tan pequeños que apenas se pueden ver.</a:t>
            </a:r>
          </a:p>
          <a:p>
            <a:pPr algn="just"/>
            <a:r>
              <a:rPr lang="es-ES" sz="1200" noProof="0" dirty="0">
                <a:latin typeface="Arial" panose="020B0604020202020204" pitchFamily="34" charset="0"/>
                <a:cs typeface="Arial" panose="020B0604020202020204" pitchFamily="34" charset="0"/>
              </a:rPr>
              <a:t>Para </a:t>
            </a:r>
            <a:r>
              <a:rPr lang="es-ES" sz="1200" dirty="0">
                <a:latin typeface="Arial" panose="020B0604020202020204" pitchFamily="34" charset="0"/>
                <a:cs typeface="Arial" panose="020B0604020202020204" pitchFamily="34" charset="0"/>
              </a:rPr>
              <a:t>el caso 1, al final del brazo largo, el campo llega muy debilitado a comparación con el corto, por lo que la función oscila entre los valores descritos anteriormente, teniendo un ratio de extinción de 2.5 dB. Para el caso 2, al tener coeficientes de acoplamiento diferentes, tenemos más desequilibrio entre los brazos. Obteniendo un ratio de extinción aún menor que en el caso 1, en concreto de 0.8 dB.</a:t>
            </a:r>
            <a:endParaRPr lang="es-ES" sz="1200" noProof="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r>
              <a:rPr lang="es-ES" sz="1200" noProof="0" dirty="0">
                <a:latin typeface="Arial" panose="020B0604020202020204" pitchFamily="34" charset="0"/>
                <a:cs typeface="Arial" panose="020B0604020202020204" pitchFamily="34" charset="0"/>
              </a:rPr>
              <a:t>Si queremos recuperar un ratio de extinción infinito, debemos de asegurar que la potencia antes de entrar a la salida sea igual en los dos brazos. Para ello debemos de inyectar mucha más potencia al brazo largo, quitándole potencia al corto.</a:t>
            </a:r>
          </a:p>
        </p:txBody>
      </p:sp>
      <p:sp>
        <p:nvSpPr>
          <p:cNvPr id="4" name="Rectángulo 3">
            <a:extLst>
              <a:ext uri="{FF2B5EF4-FFF2-40B4-BE49-F238E27FC236}">
                <a16:creationId xmlns:a16="http://schemas.microsoft.com/office/drawing/2014/main" id="{FDBAE930-4EE5-671B-4DE7-6BC60C48E7C0}"/>
              </a:ext>
            </a:extLst>
          </p:cNvPr>
          <p:cNvSpPr/>
          <p:nvPr/>
        </p:nvSpPr>
        <p:spPr>
          <a:xfrm>
            <a:off x="609600" y="1092899"/>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7" name="Rectángulo 6">
            <a:extLst>
              <a:ext uri="{FF2B5EF4-FFF2-40B4-BE49-F238E27FC236}">
                <a16:creationId xmlns:a16="http://schemas.microsoft.com/office/drawing/2014/main" id="{A6CCE634-FF91-FD5F-7C1D-4329E9DA2469}"/>
              </a:ext>
            </a:extLst>
          </p:cNvPr>
          <p:cNvSpPr/>
          <p:nvPr/>
        </p:nvSpPr>
        <p:spPr>
          <a:xfrm>
            <a:off x="6476559" y="1092899"/>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s-ES" sz="1600" b="1" noProof="0" dirty="0" err="1">
                <a:solidFill>
                  <a:schemeClr val="tx1"/>
                </a:solidFill>
                <a:latin typeface="Arial" panose="020B0604020202020204" pitchFamily="34" charset="0"/>
                <a:cs typeface="Arial" panose="020B0604020202020204" pitchFamily="34" charset="0"/>
              </a:rPr>
              <a:t>Hints</a:t>
            </a:r>
            <a:r>
              <a:rPr lang="es-ES" sz="1600" b="1" noProof="0" dirty="0">
                <a:solidFill>
                  <a:schemeClr val="tx1"/>
                </a:solidFill>
                <a:latin typeface="Arial" panose="020B0604020202020204" pitchFamily="34" charset="0"/>
                <a:cs typeface="Arial" panose="020B0604020202020204" pitchFamily="34" charset="0"/>
              </a:rPr>
              <a:t>:</a:t>
            </a:r>
          </a:p>
          <a:p>
            <a:pPr algn="just"/>
            <a:r>
              <a:rPr lang="es-ES" sz="1600" noProof="0" dirty="0" err="1">
                <a:solidFill>
                  <a:schemeClr val="tx1"/>
                </a:solidFill>
                <a:latin typeface="Arial" panose="020B0604020202020204" pitchFamily="34" charset="0"/>
                <a:cs typeface="Arial" panose="020B0604020202020204" pitchFamily="34" charset="0"/>
                <a:sym typeface="Wingdings" pitchFamily="2" charset="2"/>
              </a:rPr>
              <a:t>wvl</a:t>
            </a:r>
            <a:r>
              <a:rPr lang="es-ES" sz="1600" noProof="0" dirty="0">
                <a:solidFill>
                  <a:schemeClr val="tx1"/>
                </a:solidFill>
                <a:latin typeface="Arial" panose="020B0604020202020204" pitchFamily="34" charset="0"/>
                <a:cs typeface="Arial" panose="020B0604020202020204" pitchFamily="34" charset="0"/>
                <a:sym typeface="Wingdings" pitchFamily="2" charset="2"/>
              </a:rPr>
              <a:t> [1550-1550.5] step 0.0000005</a:t>
            </a:r>
          </a:p>
          <a:p>
            <a:pPr algn="just"/>
            <a:r>
              <a:rPr lang="es-ES" sz="1600" noProof="0" dirty="0">
                <a:solidFill>
                  <a:schemeClr val="tx1"/>
                </a:solidFill>
                <a:latin typeface="Arial" panose="020B0604020202020204" pitchFamily="34" charset="0"/>
                <a:cs typeface="Arial" panose="020B0604020202020204" pitchFamily="34" charset="0"/>
                <a:sym typeface="Wingdings" pitchFamily="2" charset="2"/>
              </a:rPr>
              <a:t>Silicon </a:t>
            </a:r>
            <a:r>
              <a:rPr lang="es-ES" sz="1600" noProof="0" dirty="0" err="1">
                <a:solidFill>
                  <a:schemeClr val="tx1"/>
                </a:solidFill>
                <a:latin typeface="Arial" panose="020B0604020202020204" pitchFamily="34" charset="0"/>
                <a:cs typeface="Arial" panose="020B0604020202020204" pitchFamily="34" charset="0"/>
                <a:sym typeface="Wingdings" pitchFamily="2" charset="2"/>
              </a:rPr>
              <a:t>waveguide</a:t>
            </a:r>
            <a:r>
              <a:rPr lang="es-ES" sz="1600" noProof="0" dirty="0">
                <a:solidFill>
                  <a:schemeClr val="tx1"/>
                </a:solidFill>
                <a:latin typeface="Arial" panose="020B0604020202020204" pitchFamily="34" charset="0"/>
                <a:cs typeface="Arial" panose="020B0604020202020204" pitchFamily="34" charset="0"/>
                <a:sym typeface="Wingdings" pitchFamily="2" charset="2"/>
              </a:rPr>
              <a:t> </a:t>
            </a:r>
            <a:r>
              <a:rPr lang="es-ES" sz="1600" noProof="0" dirty="0" err="1">
                <a:solidFill>
                  <a:schemeClr val="tx1"/>
                </a:solidFill>
                <a:latin typeface="Arial" panose="020B0604020202020204" pitchFamily="34" charset="0"/>
                <a:cs typeface="Arial" panose="020B0604020202020204" pitchFamily="34" charset="0"/>
                <a:sym typeface="Wingdings" pitchFamily="2" charset="2"/>
              </a:rPr>
              <a:t>model</a:t>
            </a:r>
            <a:r>
              <a:rPr lang="es-ES" sz="1600" noProof="0" dirty="0">
                <a:solidFill>
                  <a:schemeClr val="tx1"/>
                </a:solidFill>
                <a:latin typeface="Arial" panose="020B0604020202020204" pitchFamily="34" charset="0"/>
                <a:cs typeface="Arial" panose="020B0604020202020204" pitchFamily="34" charset="0"/>
                <a:sym typeface="Wingdings" pitchFamily="2" charset="2"/>
              </a:rPr>
              <a:t>:</a:t>
            </a:r>
          </a:p>
          <a:p>
            <a:pPr algn="just"/>
            <a:r>
              <a:rPr lang="es-ES" sz="1600" noProof="0" dirty="0" err="1">
                <a:solidFill>
                  <a:schemeClr val="tx1"/>
                </a:solidFill>
                <a:latin typeface="Arial" panose="020B0604020202020204" pitchFamily="34" charset="0"/>
                <a:cs typeface="Arial" panose="020B0604020202020204" pitchFamily="34" charset="0"/>
                <a:sym typeface="Wingdings" pitchFamily="2" charset="2"/>
              </a:rPr>
              <a:t>n_eff</a:t>
            </a:r>
            <a:r>
              <a:rPr lang="es-ES" sz="1600" noProof="0" dirty="0">
                <a:solidFill>
                  <a:schemeClr val="tx1"/>
                </a:solidFill>
                <a:latin typeface="Arial" panose="020B0604020202020204" pitchFamily="34" charset="0"/>
                <a:cs typeface="Arial" panose="020B0604020202020204" pitchFamily="34" charset="0"/>
                <a:sym typeface="Wingdings" pitchFamily="2" charset="2"/>
              </a:rPr>
              <a:t> = 2.38, </a:t>
            </a:r>
          </a:p>
          <a:p>
            <a:pPr algn="just"/>
            <a:r>
              <a:rPr lang="es-ES" sz="1600" noProof="0" dirty="0" err="1">
                <a:solidFill>
                  <a:schemeClr val="tx1"/>
                </a:solidFill>
                <a:latin typeface="Arial" panose="020B0604020202020204" pitchFamily="34" charset="0"/>
                <a:cs typeface="Arial" panose="020B0604020202020204" pitchFamily="34" charset="0"/>
                <a:sym typeface="Wingdings" pitchFamily="2" charset="2"/>
              </a:rPr>
              <a:t>n_g</a:t>
            </a:r>
            <a:r>
              <a:rPr lang="es-ES" sz="1600" noProof="0" dirty="0">
                <a:solidFill>
                  <a:schemeClr val="tx1"/>
                </a:solidFill>
                <a:latin typeface="Arial" panose="020B0604020202020204" pitchFamily="34" charset="0"/>
                <a:cs typeface="Arial" panose="020B0604020202020204" pitchFamily="34" charset="0"/>
                <a:sym typeface="Wingdings" pitchFamily="2" charset="2"/>
              </a:rPr>
              <a:t> = 4.25, </a:t>
            </a:r>
          </a:p>
          <a:p>
            <a:pPr algn="just"/>
            <a:r>
              <a:rPr lang="es-ES" sz="1600" noProof="0" dirty="0">
                <a:solidFill>
                  <a:schemeClr val="tx1"/>
                </a:solidFill>
                <a:latin typeface="Arial" panose="020B0604020202020204" pitchFamily="34" charset="0"/>
                <a:cs typeface="Arial" panose="020B0604020202020204" pitchFamily="34" charset="0"/>
                <a:sym typeface="Wingdings" pitchFamily="2" charset="2"/>
              </a:rPr>
              <a:t>D=0,</a:t>
            </a:r>
          </a:p>
          <a:p>
            <a:pPr algn="just"/>
            <a:r>
              <a:rPr lang="es-ES" sz="1600" noProof="0" dirty="0" err="1">
                <a:solidFill>
                  <a:schemeClr val="tx1"/>
                </a:solidFill>
                <a:latin typeface="Arial" panose="020B0604020202020204" pitchFamily="34" charset="0"/>
                <a:cs typeface="Arial" panose="020B0604020202020204" pitchFamily="34" charset="0"/>
                <a:sym typeface="Wingdings" pitchFamily="2" charset="2"/>
              </a:rPr>
              <a:t>L_base</a:t>
            </a:r>
            <a:r>
              <a:rPr lang="es-ES" sz="1600" noProof="0" dirty="0">
                <a:solidFill>
                  <a:schemeClr val="tx1"/>
                </a:solidFill>
                <a:latin typeface="Arial" panose="020B0604020202020204" pitchFamily="34" charset="0"/>
                <a:cs typeface="Arial" panose="020B0604020202020204" pitchFamily="34" charset="0"/>
                <a:sym typeface="Wingdings" pitchFamily="2" charset="2"/>
              </a:rPr>
              <a:t>=1000</a:t>
            </a:r>
          </a:p>
          <a:p>
            <a:pPr algn="just"/>
            <a:r>
              <a:rPr lang="es-ES" sz="1600" noProof="0" dirty="0" err="1">
                <a:solidFill>
                  <a:schemeClr val="tx1"/>
                </a:solidFill>
                <a:latin typeface="Arial" panose="020B0604020202020204" pitchFamily="34" charset="0"/>
                <a:cs typeface="Arial" panose="020B0604020202020204" pitchFamily="34" charset="0"/>
                <a:sym typeface="Wingdings" pitchFamily="2" charset="2"/>
              </a:rPr>
              <a:t>dL</a:t>
            </a:r>
            <a:r>
              <a:rPr lang="es-ES" sz="1600" noProof="0" dirty="0">
                <a:solidFill>
                  <a:schemeClr val="tx1"/>
                </a:solidFill>
                <a:latin typeface="Arial" panose="020B0604020202020204" pitchFamily="34" charset="0"/>
                <a:cs typeface="Arial" panose="020B0604020202020204" pitchFamily="34" charset="0"/>
                <a:sym typeface="Wingdings" pitchFamily="2" charset="2"/>
              </a:rPr>
              <a:t> = </a:t>
            </a:r>
            <a:r>
              <a:rPr lang="es-ES" sz="1600" noProof="0" dirty="0" err="1">
                <a:solidFill>
                  <a:schemeClr val="tx1"/>
                </a:solidFill>
                <a:latin typeface="Arial" panose="020B0604020202020204" pitchFamily="34" charset="0"/>
                <a:cs typeface="Arial" panose="020B0604020202020204" pitchFamily="34" charset="0"/>
                <a:sym typeface="Wingdings" pitchFamily="2" charset="2"/>
              </a:rPr>
              <a:t>L_base</a:t>
            </a:r>
            <a:r>
              <a:rPr lang="es-ES" sz="1600" noProof="0" dirty="0">
                <a:solidFill>
                  <a:schemeClr val="tx1"/>
                </a:solidFill>
                <a:latin typeface="Arial" panose="020B0604020202020204" pitchFamily="34" charset="0"/>
                <a:cs typeface="Arial" panose="020B0604020202020204" pitchFamily="34" charset="0"/>
                <a:sym typeface="Wingdings" pitchFamily="2" charset="2"/>
              </a:rPr>
              <a:t> + 55960.0840224255;</a:t>
            </a:r>
          </a:p>
          <a:p>
            <a:pPr algn="just"/>
            <a:r>
              <a:rPr lang="es-ES" sz="1600" noProof="0" dirty="0" err="1">
                <a:solidFill>
                  <a:schemeClr val="tx1"/>
                </a:solidFill>
                <a:latin typeface="Arial" panose="020B0604020202020204" pitchFamily="34" charset="0"/>
                <a:cs typeface="Arial" panose="020B0604020202020204" pitchFamily="34" charset="0"/>
                <a:sym typeface="Wingdings" pitchFamily="2" charset="2"/>
              </a:rPr>
              <a:t>loss</a:t>
            </a:r>
            <a:r>
              <a:rPr lang="es-ES" sz="1600" noProof="0" dirty="0">
                <a:solidFill>
                  <a:schemeClr val="tx1"/>
                </a:solidFill>
                <a:latin typeface="Arial" panose="020B0604020202020204" pitchFamily="34" charset="0"/>
                <a:cs typeface="Arial" panose="020B0604020202020204" pitchFamily="34" charset="0"/>
                <a:sym typeface="Wingdings" pitchFamily="2" charset="2"/>
              </a:rPr>
              <a:t> = 4 dB / cm</a:t>
            </a:r>
          </a:p>
          <a:p>
            <a:pPr algn="just"/>
            <a:r>
              <a:rPr lang="es-ES" sz="1600" b="1" noProof="0" dirty="0">
                <a:solidFill>
                  <a:schemeClr val="tx1"/>
                </a:solidFill>
                <a:latin typeface="Arial" panose="020B0604020202020204" pitchFamily="34" charset="0"/>
                <a:cs typeface="Arial" panose="020B0604020202020204" pitchFamily="34" charset="0"/>
                <a:sym typeface="Wingdings" pitchFamily="2" charset="2"/>
              </a:rPr>
              <a:t>Case 1</a:t>
            </a:r>
            <a:r>
              <a:rPr lang="es-ES" sz="1600" noProof="0" dirty="0">
                <a:solidFill>
                  <a:schemeClr val="tx1"/>
                </a:solidFill>
                <a:latin typeface="Arial" panose="020B0604020202020204" pitchFamily="34" charset="0"/>
                <a:cs typeface="Arial" panose="020B0604020202020204" pitchFamily="34" charset="0"/>
                <a:sym typeface="Wingdings" pitchFamily="2" charset="2"/>
              </a:rPr>
              <a:t>. </a:t>
            </a:r>
            <a:r>
              <a:rPr lang="es-ES" sz="1600" noProof="0" dirty="0" err="1">
                <a:solidFill>
                  <a:schemeClr val="tx1"/>
                </a:solidFill>
                <a:latin typeface="Arial" panose="020B0604020202020204" pitchFamily="34" charset="0"/>
                <a:cs typeface="Arial" panose="020B0604020202020204" pitchFamily="34" charset="0"/>
                <a:sym typeface="Wingdings" pitchFamily="2" charset="2"/>
              </a:rPr>
              <a:t>Simulate</a:t>
            </a:r>
            <a:r>
              <a:rPr lang="es-ES" sz="1600" noProof="0" dirty="0">
                <a:solidFill>
                  <a:schemeClr val="tx1"/>
                </a:solidFill>
                <a:latin typeface="Arial" panose="020B0604020202020204" pitchFamily="34" charset="0"/>
                <a:cs typeface="Arial" panose="020B0604020202020204" pitchFamily="34" charset="0"/>
                <a:sym typeface="Wingdings" pitchFamily="2" charset="2"/>
              </a:rPr>
              <a:t> </a:t>
            </a:r>
            <a:r>
              <a:rPr lang="es-ES" sz="1600" noProof="0" dirty="0" err="1">
                <a:solidFill>
                  <a:schemeClr val="tx1"/>
                </a:solidFill>
                <a:latin typeface="Arial" panose="020B0604020202020204" pitchFamily="34" charset="0"/>
                <a:cs typeface="Arial" panose="020B0604020202020204" pitchFamily="34" charset="0"/>
                <a:sym typeface="Wingdings" pitchFamily="2" charset="2"/>
              </a:rPr>
              <a:t>for</a:t>
            </a:r>
            <a:r>
              <a:rPr lang="es-ES" sz="1600" noProof="0" dirty="0">
                <a:solidFill>
                  <a:schemeClr val="tx1"/>
                </a:solidFill>
                <a:latin typeface="Arial" panose="020B0604020202020204" pitchFamily="34" charset="0"/>
                <a:cs typeface="Arial" panose="020B0604020202020204" pitchFamily="34" charset="0"/>
                <a:sym typeface="Wingdings" pitchFamily="2" charset="2"/>
              </a:rPr>
              <a:t> Ka = Kb = 0.5 </a:t>
            </a:r>
            <a:r>
              <a:rPr lang="es-ES" sz="1600" noProof="0" dirty="0" err="1">
                <a:solidFill>
                  <a:schemeClr val="tx1"/>
                </a:solidFill>
                <a:latin typeface="Arial" panose="020B0604020202020204" pitchFamily="34" charset="0"/>
                <a:cs typeface="Arial" panose="020B0604020202020204" pitchFamily="34" charset="0"/>
                <a:sym typeface="Wingdings" pitchFamily="2" charset="2"/>
              </a:rPr>
              <a:t>for</a:t>
            </a:r>
            <a:r>
              <a:rPr lang="es-ES" sz="1600" noProof="0" dirty="0">
                <a:solidFill>
                  <a:schemeClr val="tx1"/>
                </a:solidFill>
                <a:latin typeface="Arial" panose="020B0604020202020204" pitchFamily="34" charset="0"/>
                <a:cs typeface="Arial" panose="020B0604020202020204" pitchFamily="34" charset="0"/>
                <a:sym typeface="Wingdings" pitchFamily="2" charset="2"/>
              </a:rPr>
              <a:t> </a:t>
            </a:r>
            <a:r>
              <a:rPr lang="es-ES" sz="1600" noProof="0" dirty="0" err="1">
                <a:solidFill>
                  <a:schemeClr val="tx1"/>
                </a:solidFill>
                <a:latin typeface="Arial" panose="020B0604020202020204" pitchFamily="34" charset="0"/>
                <a:cs typeface="Arial" panose="020B0604020202020204" pitchFamily="34" charset="0"/>
                <a:sym typeface="Wingdings" pitchFamily="2" charset="2"/>
              </a:rPr>
              <a:t>all</a:t>
            </a:r>
            <a:r>
              <a:rPr lang="es-ES" sz="1600" noProof="0" dirty="0">
                <a:solidFill>
                  <a:schemeClr val="tx1"/>
                </a:solidFill>
                <a:latin typeface="Arial" panose="020B0604020202020204" pitchFamily="34" charset="0"/>
                <a:cs typeface="Arial" panose="020B0604020202020204" pitchFamily="34" charset="0"/>
                <a:sym typeface="Wingdings" pitchFamily="2" charset="2"/>
              </a:rPr>
              <a:t> </a:t>
            </a:r>
            <a:r>
              <a:rPr lang="es-ES" sz="1600" noProof="0" dirty="0" err="1">
                <a:solidFill>
                  <a:schemeClr val="tx1"/>
                </a:solidFill>
                <a:latin typeface="Arial" panose="020B0604020202020204" pitchFamily="34" charset="0"/>
                <a:cs typeface="Arial" panose="020B0604020202020204" pitchFamily="34" charset="0"/>
                <a:sym typeface="Wingdings" pitchFamily="2" charset="2"/>
              </a:rPr>
              <a:t>wvl</a:t>
            </a:r>
            <a:endParaRPr lang="es-ES" sz="1600" noProof="0" dirty="0">
              <a:solidFill>
                <a:schemeClr val="tx1"/>
              </a:solidFill>
              <a:latin typeface="Arial" panose="020B0604020202020204" pitchFamily="34" charset="0"/>
              <a:cs typeface="Arial" panose="020B0604020202020204" pitchFamily="34" charset="0"/>
              <a:sym typeface="Wingdings" pitchFamily="2" charset="2"/>
            </a:endParaRPr>
          </a:p>
          <a:p>
            <a:pPr algn="just"/>
            <a:r>
              <a:rPr lang="es-ES" sz="1600" b="1" noProof="0" dirty="0">
                <a:solidFill>
                  <a:schemeClr val="tx1"/>
                </a:solidFill>
                <a:latin typeface="Arial" panose="020B0604020202020204" pitchFamily="34" charset="0"/>
                <a:cs typeface="Arial" panose="020B0604020202020204" pitchFamily="34" charset="0"/>
                <a:sym typeface="Wingdings" pitchFamily="2" charset="2"/>
              </a:rPr>
              <a:t>Case 2</a:t>
            </a:r>
            <a:r>
              <a:rPr lang="es-ES" sz="1600" noProof="0" dirty="0">
                <a:solidFill>
                  <a:schemeClr val="tx1"/>
                </a:solidFill>
                <a:latin typeface="Arial" panose="020B0604020202020204" pitchFamily="34" charset="0"/>
                <a:cs typeface="Arial" panose="020B0604020202020204" pitchFamily="34" charset="0"/>
                <a:sym typeface="Wingdings" pitchFamily="2" charset="2"/>
              </a:rPr>
              <a:t>. </a:t>
            </a:r>
            <a:r>
              <a:rPr lang="es-ES" sz="1600" noProof="0" dirty="0" err="1">
                <a:solidFill>
                  <a:schemeClr val="tx1"/>
                </a:solidFill>
                <a:latin typeface="Arial" panose="020B0604020202020204" pitchFamily="34" charset="0"/>
                <a:cs typeface="Arial" panose="020B0604020202020204" pitchFamily="34" charset="0"/>
                <a:sym typeface="Wingdings" pitchFamily="2" charset="2"/>
              </a:rPr>
              <a:t>Simulate</a:t>
            </a:r>
            <a:r>
              <a:rPr lang="es-ES" sz="1600" noProof="0" dirty="0">
                <a:solidFill>
                  <a:schemeClr val="tx1"/>
                </a:solidFill>
                <a:latin typeface="Arial" panose="020B0604020202020204" pitchFamily="34" charset="0"/>
                <a:cs typeface="Arial" panose="020B0604020202020204" pitchFamily="34" charset="0"/>
                <a:sym typeface="Wingdings" pitchFamily="2" charset="2"/>
              </a:rPr>
              <a:t> </a:t>
            </a:r>
            <a:r>
              <a:rPr lang="es-ES" sz="1600" noProof="0" dirty="0" err="1">
                <a:solidFill>
                  <a:schemeClr val="tx1"/>
                </a:solidFill>
                <a:latin typeface="Arial" panose="020B0604020202020204" pitchFamily="34" charset="0"/>
                <a:cs typeface="Arial" panose="020B0604020202020204" pitchFamily="34" charset="0"/>
                <a:sym typeface="Wingdings" pitchFamily="2" charset="2"/>
              </a:rPr>
              <a:t>for</a:t>
            </a:r>
            <a:r>
              <a:rPr lang="es-ES" sz="1600" noProof="0" dirty="0">
                <a:solidFill>
                  <a:schemeClr val="tx1"/>
                </a:solidFill>
                <a:latin typeface="Arial" panose="020B0604020202020204" pitchFamily="34" charset="0"/>
                <a:cs typeface="Arial" panose="020B0604020202020204" pitchFamily="34" charset="0"/>
                <a:sym typeface="Wingdings" pitchFamily="2" charset="2"/>
              </a:rPr>
              <a:t> Ka=0.1 </a:t>
            </a:r>
            <a:r>
              <a:rPr lang="es-ES" sz="1600" noProof="0" dirty="0" err="1">
                <a:solidFill>
                  <a:schemeClr val="tx1"/>
                </a:solidFill>
                <a:latin typeface="Arial" panose="020B0604020202020204" pitchFamily="34" charset="0"/>
                <a:cs typeface="Arial" panose="020B0604020202020204" pitchFamily="34" charset="0"/>
                <a:sym typeface="Wingdings" pitchFamily="2" charset="2"/>
              </a:rPr>
              <a:t>for</a:t>
            </a:r>
            <a:r>
              <a:rPr lang="es-ES" sz="1600" noProof="0" dirty="0">
                <a:solidFill>
                  <a:schemeClr val="tx1"/>
                </a:solidFill>
                <a:latin typeface="Arial" panose="020B0604020202020204" pitchFamily="34" charset="0"/>
                <a:cs typeface="Arial" panose="020B0604020202020204" pitchFamily="34" charset="0"/>
                <a:sym typeface="Wingdings" pitchFamily="2" charset="2"/>
              </a:rPr>
              <a:t> </a:t>
            </a:r>
            <a:r>
              <a:rPr lang="es-ES" sz="1600" noProof="0" dirty="0" err="1">
                <a:solidFill>
                  <a:schemeClr val="tx1"/>
                </a:solidFill>
                <a:latin typeface="Arial" panose="020B0604020202020204" pitchFamily="34" charset="0"/>
                <a:cs typeface="Arial" panose="020B0604020202020204" pitchFamily="34" charset="0"/>
                <a:sym typeface="Wingdings" pitchFamily="2" charset="2"/>
              </a:rPr>
              <a:t>all</a:t>
            </a:r>
            <a:r>
              <a:rPr lang="es-ES" sz="1600" noProof="0" dirty="0">
                <a:solidFill>
                  <a:schemeClr val="tx1"/>
                </a:solidFill>
                <a:latin typeface="Arial" panose="020B0604020202020204" pitchFamily="34" charset="0"/>
                <a:cs typeface="Arial" panose="020B0604020202020204" pitchFamily="34" charset="0"/>
                <a:sym typeface="Wingdings" pitchFamily="2" charset="2"/>
              </a:rPr>
              <a:t> </a:t>
            </a:r>
            <a:r>
              <a:rPr lang="es-ES" sz="1600" noProof="0" dirty="0" err="1">
                <a:solidFill>
                  <a:schemeClr val="tx1"/>
                </a:solidFill>
                <a:latin typeface="Arial" panose="020B0604020202020204" pitchFamily="34" charset="0"/>
                <a:cs typeface="Arial" panose="020B0604020202020204" pitchFamily="34" charset="0"/>
                <a:sym typeface="Wingdings" pitchFamily="2" charset="2"/>
              </a:rPr>
              <a:t>wvl</a:t>
            </a:r>
            <a:endParaRPr lang="es-ES" sz="1600" noProof="0" dirty="0">
              <a:solidFill>
                <a:schemeClr val="tx1"/>
              </a:solidFill>
              <a:latin typeface="Arial" panose="020B0604020202020204" pitchFamily="34" charset="0"/>
              <a:cs typeface="Arial" panose="020B0604020202020204" pitchFamily="34" charset="0"/>
              <a:sym typeface="Wingdings" pitchFamily="2" charset="2"/>
            </a:endParaRPr>
          </a:p>
          <a:p>
            <a:pPr algn="just"/>
            <a:r>
              <a:rPr lang="es-ES" sz="1600" noProof="0" dirty="0">
                <a:solidFill>
                  <a:schemeClr val="tx1"/>
                </a:solidFill>
                <a:latin typeface="Arial" panose="020B0604020202020204" pitchFamily="34" charset="0"/>
                <a:cs typeface="Arial" panose="020B0604020202020204" pitchFamily="34" charset="0"/>
                <a:sym typeface="Wingdings" pitchFamily="2" charset="2"/>
              </a:rPr>
              <a:t>Kb=0.5 </a:t>
            </a:r>
            <a:r>
              <a:rPr lang="es-ES" sz="1600" noProof="0" dirty="0" err="1">
                <a:solidFill>
                  <a:schemeClr val="tx1"/>
                </a:solidFill>
                <a:latin typeface="Arial" panose="020B0604020202020204" pitchFamily="34" charset="0"/>
                <a:cs typeface="Arial" panose="020B0604020202020204" pitchFamily="34" charset="0"/>
                <a:sym typeface="Wingdings" pitchFamily="2" charset="2"/>
              </a:rPr>
              <a:t>for</a:t>
            </a:r>
            <a:r>
              <a:rPr lang="es-ES" sz="1600" noProof="0" dirty="0">
                <a:solidFill>
                  <a:schemeClr val="tx1"/>
                </a:solidFill>
                <a:latin typeface="Arial" panose="020B0604020202020204" pitchFamily="34" charset="0"/>
                <a:cs typeface="Arial" panose="020B0604020202020204" pitchFamily="34" charset="0"/>
                <a:sym typeface="Wingdings" pitchFamily="2" charset="2"/>
              </a:rPr>
              <a:t> </a:t>
            </a:r>
            <a:r>
              <a:rPr lang="es-ES" sz="1600" noProof="0" dirty="0" err="1">
                <a:solidFill>
                  <a:schemeClr val="tx1"/>
                </a:solidFill>
                <a:latin typeface="Arial" panose="020B0604020202020204" pitchFamily="34" charset="0"/>
                <a:cs typeface="Arial" panose="020B0604020202020204" pitchFamily="34" charset="0"/>
                <a:sym typeface="Wingdings" pitchFamily="2" charset="2"/>
              </a:rPr>
              <a:t>all</a:t>
            </a:r>
            <a:r>
              <a:rPr lang="es-ES" sz="1600" noProof="0" dirty="0">
                <a:solidFill>
                  <a:schemeClr val="tx1"/>
                </a:solidFill>
                <a:latin typeface="Arial" panose="020B0604020202020204" pitchFamily="34" charset="0"/>
                <a:cs typeface="Arial" panose="020B0604020202020204" pitchFamily="34" charset="0"/>
                <a:sym typeface="Wingdings" pitchFamily="2" charset="2"/>
              </a:rPr>
              <a:t> </a:t>
            </a:r>
            <a:r>
              <a:rPr lang="es-ES" sz="1600" noProof="0" dirty="0" err="1">
                <a:solidFill>
                  <a:schemeClr val="tx1"/>
                </a:solidFill>
                <a:latin typeface="Arial" panose="020B0604020202020204" pitchFamily="34" charset="0"/>
                <a:cs typeface="Arial" panose="020B0604020202020204" pitchFamily="34" charset="0"/>
                <a:sym typeface="Wingdings" pitchFamily="2" charset="2"/>
              </a:rPr>
              <a:t>wvl</a:t>
            </a:r>
            <a:endParaRPr lang="es-ES" sz="1600" noProof="0" dirty="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EF71FD03-8141-88A1-69BA-49588EB48896}"/>
              </a:ext>
            </a:extLst>
          </p:cNvPr>
          <p:cNvSpPr txBox="1"/>
          <p:nvPr/>
        </p:nvSpPr>
        <p:spPr>
          <a:xfrm>
            <a:off x="1690195" y="2494306"/>
            <a:ext cx="3171061" cy="1154162"/>
          </a:xfrm>
          <a:prstGeom prst="rect">
            <a:avLst/>
          </a:prstGeom>
          <a:noFill/>
        </p:spPr>
        <p:txBody>
          <a:bodyPr wrap="none" rtlCol="0">
            <a:spAutoFit/>
          </a:bodyPr>
          <a:lstStyle/>
          <a:p>
            <a:pPr algn="ctr"/>
            <a:r>
              <a:rPr lang="es-ES" noProof="0" dirty="0"/>
              <a:t>MZI transfer </a:t>
            </a:r>
            <a:r>
              <a:rPr lang="es-ES" noProof="0" dirty="0" err="1"/>
              <a:t>functions</a:t>
            </a:r>
            <a:endParaRPr lang="es-ES" noProof="0" dirty="0"/>
          </a:p>
          <a:p>
            <a:pPr algn="ctr"/>
            <a:endParaRPr lang="es-ES" noProof="0" dirty="0"/>
          </a:p>
          <a:p>
            <a:pPr algn="ctr"/>
            <a:r>
              <a:rPr lang="es-ES" noProof="0" dirty="0"/>
              <a:t>Paste </a:t>
            </a:r>
            <a:r>
              <a:rPr lang="es-ES" noProof="0" dirty="0" err="1"/>
              <a:t>plot</a:t>
            </a:r>
            <a:r>
              <a:rPr lang="es-ES" noProof="0" dirty="0"/>
              <a:t> </a:t>
            </a:r>
            <a:r>
              <a:rPr lang="es-ES" noProof="0" dirty="0" err="1"/>
              <a:t>here</a:t>
            </a:r>
            <a:endParaRPr lang="es-ES" noProof="0" dirty="0"/>
          </a:p>
        </p:txBody>
      </p:sp>
      <p:pic>
        <p:nvPicPr>
          <p:cNvPr id="11" name="Picture 10">
            <a:extLst>
              <a:ext uri="{FF2B5EF4-FFF2-40B4-BE49-F238E27FC236}">
                <a16:creationId xmlns:a16="http://schemas.microsoft.com/office/drawing/2014/main" id="{0EA9F17A-8D6F-A07F-927F-3F294FF450D7}"/>
              </a:ext>
            </a:extLst>
          </p:cNvPr>
          <p:cNvPicPr>
            <a:picLocks noChangeAspect="1"/>
          </p:cNvPicPr>
          <p:nvPr/>
        </p:nvPicPr>
        <p:blipFill>
          <a:blip r:embed="rId3"/>
          <a:stretch>
            <a:fillRect/>
          </a:stretch>
        </p:blipFill>
        <p:spPr>
          <a:xfrm>
            <a:off x="232232" y="1766130"/>
            <a:ext cx="3282181" cy="1748338"/>
          </a:xfrm>
          <a:prstGeom prst="rect">
            <a:avLst/>
          </a:prstGeom>
        </p:spPr>
      </p:pic>
      <p:pic>
        <p:nvPicPr>
          <p:cNvPr id="14" name="Picture 13">
            <a:extLst>
              <a:ext uri="{FF2B5EF4-FFF2-40B4-BE49-F238E27FC236}">
                <a16:creationId xmlns:a16="http://schemas.microsoft.com/office/drawing/2014/main" id="{FF0FDF9B-C645-E5D5-0066-C2B220B1FB25}"/>
              </a:ext>
            </a:extLst>
          </p:cNvPr>
          <p:cNvPicPr>
            <a:picLocks noChangeAspect="1"/>
          </p:cNvPicPr>
          <p:nvPr/>
        </p:nvPicPr>
        <p:blipFill>
          <a:blip r:embed="rId4"/>
          <a:stretch>
            <a:fillRect/>
          </a:stretch>
        </p:blipFill>
        <p:spPr>
          <a:xfrm>
            <a:off x="3645537" y="1766130"/>
            <a:ext cx="3282181" cy="1767957"/>
          </a:xfrm>
          <a:prstGeom prst="rect">
            <a:avLst/>
          </a:prstGeom>
        </p:spPr>
      </p:pic>
      <p:sp>
        <p:nvSpPr>
          <p:cNvPr id="15" name="TextBox 14">
            <a:extLst>
              <a:ext uri="{FF2B5EF4-FFF2-40B4-BE49-F238E27FC236}">
                <a16:creationId xmlns:a16="http://schemas.microsoft.com/office/drawing/2014/main" id="{F995FC68-8253-F411-D8E6-65D2D1FCC975}"/>
              </a:ext>
            </a:extLst>
          </p:cNvPr>
          <p:cNvSpPr txBox="1"/>
          <p:nvPr/>
        </p:nvSpPr>
        <p:spPr>
          <a:xfrm>
            <a:off x="1143159" y="1503326"/>
            <a:ext cx="1176284" cy="369332"/>
          </a:xfrm>
          <a:prstGeom prst="rect">
            <a:avLst/>
          </a:prstGeom>
          <a:noFill/>
        </p:spPr>
        <p:txBody>
          <a:bodyPr wrap="none" rtlCol="0">
            <a:spAutoFit/>
          </a:bodyPr>
          <a:lstStyle/>
          <a:p>
            <a:r>
              <a:rPr lang="es-ES" noProof="0" dirty="0"/>
              <a:t>Ka=Kb=0.5</a:t>
            </a:r>
          </a:p>
        </p:txBody>
      </p:sp>
      <p:sp>
        <p:nvSpPr>
          <p:cNvPr id="16" name="TextBox 15">
            <a:extLst>
              <a:ext uri="{FF2B5EF4-FFF2-40B4-BE49-F238E27FC236}">
                <a16:creationId xmlns:a16="http://schemas.microsoft.com/office/drawing/2014/main" id="{3063AFB6-E924-1EC9-B8FC-CC2BCA9B8F63}"/>
              </a:ext>
            </a:extLst>
          </p:cNvPr>
          <p:cNvSpPr txBox="1"/>
          <p:nvPr/>
        </p:nvSpPr>
        <p:spPr>
          <a:xfrm>
            <a:off x="4740902" y="1480194"/>
            <a:ext cx="1578637" cy="369332"/>
          </a:xfrm>
          <a:prstGeom prst="rect">
            <a:avLst/>
          </a:prstGeom>
          <a:noFill/>
        </p:spPr>
        <p:txBody>
          <a:bodyPr wrap="none" rtlCol="0">
            <a:spAutoFit/>
          </a:bodyPr>
          <a:lstStyle/>
          <a:p>
            <a:r>
              <a:rPr lang="es-ES" noProof="0" dirty="0"/>
              <a:t>Ka=0.1, Kb=0.5</a:t>
            </a:r>
          </a:p>
        </p:txBody>
      </p:sp>
    </p:spTree>
    <p:extLst>
      <p:ext uri="{BB962C8B-B14F-4D97-AF65-F5344CB8AC3E}">
        <p14:creationId xmlns:p14="http://schemas.microsoft.com/office/powerpoint/2010/main" val="1475710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04ED6-4253-8C6D-FE21-1F0115A6489E}"/>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6B561950-C5FE-7FD3-AA94-609DE33759BF}"/>
              </a:ext>
            </a:extLst>
          </p:cNvPr>
          <p:cNvSpPr>
            <a:spLocks noGrp="1"/>
          </p:cNvSpPr>
          <p:nvPr>
            <p:ph type="ftr" sz="quarter" idx="5"/>
          </p:nvPr>
        </p:nvSpPr>
        <p:spPr/>
        <p:txBody>
          <a:bodyPr/>
          <a:lstStyle/>
          <a:p>
            <a:r>
              <a:rPr lang="es-ES" noProof="0" dirty="0"/>
              <a:t>LAB 3.0. CIRCUITS &amp; COMPACT MODELS</a:t>
            </a:r>
          </a:p>
        </p:txBody>
      </p:sp>
      <p:sp>
        <p:nvSpPr>
          <p:cNvPr id="6" name="Marcador de número de diapositiva 5">
            <a:extLst>
              <a:ext uri="{FF2B5EF4-FFF2-40B4-BE49-F238E27FC236}">
                <a16:creationId xmlns:a16="http://schemas.microsoft.com/office/drawing/2014/main" id="{D70F1C6C-0652-E1BD-7C1A-032440508170}"/>
              </a:ext>
            </a:extLst>
          </p:cNvPr>
          <p:cNvSpPr>
            <a:spLocks noGrp="1"/>
          </p:cNvSpPr>
          <p:nvPr>
            <p:ph type="sldNum" sz="quarter" idx="7"/>
          </p:nvPr>
        </p:nvSpPr>
        <p:spPr/>
        <p:txBody>
          <a:bodyPr/>
          <a:lstStyle/>
          <a:p>
            <a:fld id="{C2F52289-4012-4053-9770-FE82CEB9514F}" type="slidenum">
              <a:rPr lang="es-ES" noProof="0" smtClean="0"/>
              <a:pPr/>
              <a:t>7</a:t>
            </a:fld>
            <a:endParaRPr lang="es-ES" noProof="0" dirty="0"/>
          </a:p>
        </p:txBody>
      </p:sp>
      <p:pic>
        <p:nvPicPr>
          <p:cNvPr id="10" name="Gráfico 9">
            <a:extLst>
              <a:ext uri="{FF2B5EF4-FFF2-40B4-BE49-F238E27FC236}">
                <a16:creationId xmlns:a16="http://schemas.microsoft.com/office/drawing/2014/main" id="{1C906B19-D036-FF99-2463-588D539EF9C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CB44F555-6186-B4E3-5F54-0E63D6824671}"/>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s-ES" sz="2500" kern="0" noProof="0" dirty="0" err="1"/>
              <a:t>Learning</a:t>
            </a:r>
            <a:r>
              <a:rPr lang="es-ES" sz="2500" kern="0" noProof="0" dirty="0"/>
              <a:t> </a:t>
            </a:r>
            <a:r>
              <a:rPr lang="es-ES" sz="2500" kern="0" noProof="0" dirty="0" err="1"/>
              <a:t>outcome</a:t>
            </a:r>
            <a:r>
              <a:rPr lang="es-ES" sz="2500" kern="0" noProof="0" dirty="0"/>
              <a:t> #3 – Delay </a:t>
            </a:r>
            <a:r>
              <a:rPr lang="es-ES" sz="2500" kern="0" noProof="0" dirty="0" err="1"/>
              <a:t>imbalance</a:t>
            </a:r>
            <a:r>
              <a:rPr lang="es-ES" sz="2500" kern="0" noProof="0" dirty="0"/>
              <a:t> </a:t>
            </a:r>
            <a:r>
              <a:rPr lang="es-ES" sz="2500" kern="0" noProof="0" dirty="0" err="1"/>
              <a:t>with</a:t>
            </a:r>
            <a:r>
              <a:rPr lang="es-ES" sz="2500" kern="0" noProof="0" dirty="0"/>
              <a:t> </a:t>
            </a:r>
            <a:r>
              <a:rPr lang="es-ES" sz="2500" kern="0" noProof="0" dirty="0" err="1"/>
              <a:t>loss</a:t>
            </a:r>
            <a:endParaRPr lang="es-ES" sz="2500" kern="0" noProof="0" dirty="0"/>
          </a:p>
          <a:p>
            <a:pPr marL="12700">
              <a:spcBef>
                <a:spcPts val="100"/>
              </a:spcBef>
            </a:pPr>
            <a:r>
              <a:rPr lang="es-ES" b="0" kern="0" spc="-5" noProof="0" dirty="0" err="1">
                <a:latin typeface="+mj-lt"/>
                <a:cs typeface="Lucida Sans"/>
              </a:rPr>
              <a:t>Fringe</a:t>
            </a:r>
            <a:r>
              <a:rPr lang="es-ES" b="0" kern="0" spc="-5" noProof="0" dirty="0">
                <a:latin typeface="+mj-lt"/>
                <a:cs typeface="Lucida Sans"/>
              </a:rPr>
              <a:t> </a:t>
            </a:r>
            <a:r>
              <a:rPr lang="es-ES" b="0" kern="0" spc="-5" noProof="0" dirty="0" err="1">
                <a:latin typeface="+mj-lt"/>
                <a:cs typeface="Lucida Sans"/>
              </a:rPr>
              <a:t>visibility</a:t>
            </a:r>
            <a:endParaRPr lang="es-ES" b="0" kern="0" noProof="0" dirty="0">
              <a:latin typeface="+mj-lt"/>
              <a:cs typeface="Lucida Sans"/>
            </a:endParaRPr>
          </a:p>
        </p:txBody>
      </p:sp>
      <p:sp>
        <p:nvSpPr>
          <p:cNvPr id="2" name="CuadroTexto 1">
            <a:extLst>
              <a:ext uri="{FF2B5EF4-FFF2-40B4-BE49-F238E27FC236}">
                <a16:creationId xmlns:a16="http://schemas.microsoft.com/office/drawing/2014/main" id="{112BEF7C-DF02-BC43-D844-DCF36F9C49CF}"/>
              </a:ext>
            </a:extLst>
          </p:cNvPr>
          <p:cNvSpPr txBox="1"/>
          <p:nvPr/>
        </p:nvSpPr>
        <p:spPr>
          <a:xfrm>
            <a:off x="685800" y="1259494"/>
            <a:ext cx="11199971" cy="2677656"/>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a:latin typeface="Arial" panose="020B0604020202020204" pitchFamily="34" charset="0"/>
                <a:cs typeface="Arial" panose="020B0604020202020204" pitchFamily="34" charset="0"/>
              </a:rPr>
              <a:t>Para calcularlo, primero debemos de contrarrestar las pérdidas introducidas mediante la siguiente ecuación:</a:t>
            </a:r>
          </a:p>
          <a:p>
            <a:pPr algn="just"/>
            <a:endParaRPr lang="es-ES" sz="120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También sabemos que el acoplador reparte la potencia de la siguiente manera: </a:t>
            </a:r>
            <a:r>
              <a:rPr lang="es-ES" sz="1200" dirty="0" err="1">
                <a:latin typeface="Arial" panose="020B0604020202020204" pitchFamily="34" charset="0"/>
                <a:cs typeface="Arial" panose="020B0604020202020204" pitchFamily="34" charset="0"/>
              </a:rPr>
              <a:t>Pn</a:t>
            </a:r>
            <a:r>
              <a:rPr lang="es-ES" sz="1200" dirty="0">
                <a:latin typeface="Arial" panose="020B0604020202020204" pitchFamily="34" charset="0"/>
                <a:cs typeface="Arial" panose="020B0604020202020204" pitchFamily="34" charset="0"/>
              </a:rPr>
              <a:t>=Ka y </a:t>
            </a:r>
            <a:r>
              <a:rPr lang="es-ES" sz="1200" dirty="0" err="1">
                <a:latin typeface="Arial" panose="020B0604020202020204" pitchFamily="34" charset="0"/>
                <a:cs typeface="Arial" panose="020B0604020202020204" pitchFamily="34" charset="0"/>
              </a:rPr>
              <a:t>Ps</a:t>
            </a:r>
            <a:r>
              <a:rPr lang="es-ES" sz="1200" dirty="0">
                <a:latin typeface="Arial" panose="020B0604020202020204" pitchFamily="34" charset="0"/>
                <a:cs typeface="Arial" panose="020B0604020202020204" pitchFamily="34" charset="0"/>
              </a:rPr>
              <a:t>=1-Ka, con esto obtenemos una Ka de 0.9943, por lo que podemos concluir que necesitamos un Ka=0.9943 para obtener un ER teóricamente infinito</a:t>
            </a:r>
          </a:p>
          <a:p>
            <a:pPr algn="just"/>
            <a:endParaRPr lang="es-ES" sz="1200" noProof="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FC913D25-291D-BA8E-2B9C-77E95491FA74}"/>
              </a:ext>
            </a:extLst>
          </p:cNvPr>
          <p:cNvPicPr>
            <a:picLocks noChangeAspect="1"/>
          </p:cNvPicPr>
          <p:nvPr/>
        </p:nvPicPr>
        <p:blipFill>
          <a:blip r:embed="rId3"/>
          <a:stretch>
            <a:fillRect/>
          </a:stretch>
        </p:blipFill>
        <p:spPr>
          <a:xfrm>
            <a:off x="8077200" y="1257885"/>
            <a:ext cx="1609908" cy="542154"/>
          </a:xfrm>
          <a:prstGeom prst="rect">
            <a:avLst/>
          </a:prstGeom>
        </p:spPr>
      </p:pic>
    </p:spTree>
    <p:extLst>
      <p:ext uri="{BB962C8B-B14F-4D97-AF65-F5344CB8AC3E}">
        <p14:creationId xmlns:p14="http://schemas.microsoft.com/office/powerpoint/2010/main" val="1039324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s-ES" noProof="0" dirty="0"/>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s-ES" noProof="0" smtClean="0"/>
              <a:pPr/>
              <a:t>8</a:t>
            </a:fld>
            <a:endParaRPr lang="es-ES" noProof="0"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1384995"/>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a:latin typeface="Arial" panose="020B0604020202020204" pitchFamily="34" charset="0"/>
                <a:cs typeface="Arial" panose="020B0604020202020204" pitchFamily="34" charset="0"/>
              </a:rPr>
              <a:t>La función de transferencia muestra una transmisión prácticamente total, excepto en las muescas que aparecen cada 23 nm. Estas aparecen por la colisión de las señales que encontramos en el anillo y en el brazo corto, que en estas ciertas longitudes de onda tienen interferencia destructiva. El FSR podemos observarlo de la gráfica, ya que es la distancia entre los mínimos, siendo este de unos 23 nm. Por la ecuación mostrada anteriormente para calcular el FSR, podemos deducir que cuanto más grande es el perímetro del anillo, más pequeño será el FSR, pasando justamente lo contrario al hacer el anillo más pequeño.</a:t>
            </a:r>
          </a:p>
          <a:p>
            <a:pPr algn="just"/>
            <a:r>
              <a:rPr lang="es-ES" sz="1200" dirty="0">
                <a:latin typeface="Arial" panose="020B0604020202020204" pitchFamily="34" charset="0"/>
                <a:cs typeface="Arial" panose="020B0604020202020204" pitchFamily="34" charset="0"/>
              </a:rPr>
              <a:t>Usando la misma ecuación utilizada en apartados anteriores:                                  Calculando para una lambda de 1546 nm y una L de 50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obtenemos una FSR para este caso de 23.9 nm</a:t>
            </a:r>
          </a:p>
          <a:p>
            <a:pPr algn="just"/>
            <a:endParaRPr lang="es-ES" sz="1200" noProof="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12" name="CuadroTexto 11">
            <a:extLst>
              <a:ext uri="{FF2B5EF4-FFF2-40B4-BE49-F238E27FC236}">
                <a16:creationId xmlns:a16="http://schemas.microsoft.com/office/drawing/2014/main" id="{1D17C364-5A66-F740-B152-8B41A2A4EF26}"/>
              </a:ext>
            </a:extLst>
          </p:cNvPr>
          <p:cNvSpPr txBox="1"/>
          <p:nvPr/>
        </p:nvSpPr>
        <p:spPr>
          <a:xfrm>
            <a:off x="5536543" y="2494307"/>
            <a:ext cx="2033313" cy="1323439"/>
          </a:xfrm>
          <a:prstGeom prst="rect">
            <a:avLst/>
          </a:prstGeom>
          <a:noFill/>
        </p:spPr>
        <p:txBody>
          <a:bodyPr wrap="none" rtlCol="0">
            <a:spAutoFit/>
          </a:bodyPr>
          <a:lstStyle/>
          <a:p>
            <a:pPr algn="ctr"/>
            <a:r>
              <a:rPr lang="es-ES" sz="2000" noProof="0" dirty="0"/>
              <a:t>Single ring</a:t>
            </a:r>
          </a:p>
          <a:p>
            <a:pPr algn="ctr"/>
            <a:r>
              <a:rPr lang="es-ES" sz="2000" noProof="0" dirty="0"/>
              <a:t>transfer </a:t>
            </a:r>
            <a:r>
              <a:rPr lang="es-ES" sz="2000" noProof="0" dirty="0" err="1"/>
              <a:t>functions</a:t>
            </a:r>
            <a:endParaRPr lang="es-ES" sz="2000" noProof="0" dirty="0"/>
          </a:p>
          <a:p>
            <a:pPr algn="ctr"/>
            <a:endParaRPr lang="es-ES" sz="2000" noProof="0" dirty="0"/>
          </a:p>
          <a:p>
            <a:pPr algn="ctr"/>
            <a:r>
              <a:rPr lang="es-ES" sz="2000" noProof="0" dirty="0" err="1"/>
              <a:t>Logaritmic</a:t>
            </a:r>
            <a:r>
              <a:rPr lang="es-ES" sz="2000" noProof="0" dirty="0"/>
              <a:t> </a:t>
            </a:r>
            <a:r>
              <a:rPr lang="es-ES" sz="2000" noProof="0" dirty="0" err="1"/>
              <a:t>units</a:t>
            </a:r>
            <a:endParaRPr lang="es-ES" sz="2000" noProof="0" dirty="0"/>
          </a:p>
        </p:txBody>
      </p:sp>
      <p:sp>
        <p:nvSpPr>
          <p:cNvPr id="3" name="Rectángulo 2">
            <a:extLst>
              <a:ext uri="{FF2B5EF4-FFF2-40B4-BE49-F238E27FC236}">
                <a16:creationId xmlns:a16="http://schemas.microsoft.com/office/drawing/2014/main" id="{5FB43DF1-4048-35BF-BD58-4BF2A341D2EF}"/>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s-ES" sz="1200" b="1" noProof="0" dirty="0" err="1">
                <a:solidFill>
                  <a:schemeClr val="tx1"/>
                </a:solidFill>
                <a:latin typeface="Arial" panose="020B0604020202020204" pitchFamily="34" charset="0"/>
                <a:cs typeface="Arial" panose="020B0604020202020204" pitchFamily="34" charset="0"/>
              </a:rPr>
              <a:t>Hints</a:t>
            </a:r>
            <a:r>
              <a:rPr lang="es-ES" sz="1200" b="1" noProof="0" dirty="0">
                <a:solidFill>
                  <a:schemeClr val="tx1"/>
                </a:solidFill>
                <a:latin typeface="Arial" panose="020B0604020202020204" pitchFamily="34" charset="0"/>
                <a:cs typeface="Arial" panose="020B0604020202020204" pitchFamily="34" charset="0"/>
              </a:rPr>
              <a:t>:</a:t>
            </a:r>
          </a:p>
          <a:p>
            <a:pPr algn="just"/>
            <a:endParaRPr lang="es-ES" sz="1200" b="1" noProof="0" dirty="0">
              <a:solidFill>
                <a:schemeClr val="tx1"/>
              </a:solidFill>
              <a:latin typeface="Arial" panose="020B0604020202020204" pitchFamily="34" charset="0"/>
              <a:cs typeface="Arial" panose="020B0604020202020204" pitchFamily="34" charset="0"/>
            </a:endParaRPr>
          </a:p>
          <a:p>
            <a:pPr algn="just"/>
            <a:r>
              <a:rPr lang="es-ES" sz="1200" noProof="0" dirty="0" err="1">
                <a:solidFill>
                  <a:schemeClr val="tx1"/>
                </a:solidFill>
                <a:latin typeface="Arial" panose="020B0604020202020204" pitchFamily="34" charset="0"/>
                <a:cs typeface="Arial" panose="020B0604020202020204" pitchFamily="34" charset="0"/>
              </a:rPr>
              <a:t>None</a:t>
            </a:r>
            <a:r>
              <a:rPr lang="es-ES" sz="1200" noProof="0" dirty="0">
                <a:solidFill>
                  <a:schemeClr val="tx1"/>
                </a:solidFill>
                <a:latin typeface="Arial" panose="020B0604020202020204" pitchFamily="34" charset="0"/>
                <a:cs typeface="Arial" panose="020B0604020202020204" pitchFamily="34" charset="0"/>
              </a:rPr>
              <a:t> </a:t>
            </a:r>
            <a:r>
              <a:rPr lang="es-ES" sz="1200" noProof="0" dirty="0">
                <a:solidFill>
                  <a:schemeClr val="tx1"/>
                </a:solidFill>
                <a:latin typeface="Arial" panose="020B0604020202020204" pitchFamily="34" charset="0"/>
                <a:cs typeface="Arial" panose="020B0604020202020204" pitchFamily="34" charset="0"/>
                <a:sym typeface="Wingdings" pitchFamily="2" charset="2"/>
              </a:rPr>
              <a:t> </a:t>
            </a:r>
            <a:endParaRPr lang="es-ES" sz="1200" noProof="0" dirty="0">
              <a:solidFill>
                <a:schemeClr val="tx1"/>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464820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15" name="CuadroTexto 14">
            <a:extLst>
              <a:ext uri="{FF2B5EF4-FFF2-40B4-BE49-F238E27FC236}">
                <a16:creationId xmlns:a16="http://schemas.microsoft.com/office/drawing/2014/main" id="{54CF28B4-1346-F41D-2CD8-EA104ABBFB98}"/>
              </a:ext>
            </a:extLst>
          </p:cNvPr>
          <p:cNvSpPr txBox="1"/>
          <p:nvPr/>
        </p:nvSpPr>
        <p:spPr>
          <a:xfrm>
            <a:off x="1499379" y="2478160"/>
            <a:ext cx="2033313" cy="1323439"/>
          </a:xfrm>
          <a:prstGeom prst="rect">
            <a:avLst/>
          </a:prstGeom>
          <a:noFill/>
        </p:spPr>
        <p:txBody>
          <a:bodyPr wrap="none" rtlCol="0">
            <a:spAutoFit/>
          </a:bodyPr>
          <a:lstStyle/>
          <a:p>
            <a:pPr algn="ctr"/>
            <a:r>
              <a:rPr lang="es-ES" sz="2000" noProof="0" dirty="0"/>
              <a:t>Single ring</a:t>
            </a:r>
          </a:p>
          <a:p>
            <a:pPr algn="ctr"/>
            <a:r>
              <a:rPr lang="es-ES" sz="2000" noProof="0" dirty="0"/>
              <a:t>transfer </a:t>
            </a:r>
            <a:r>
              <a:rPr lang="es-ES" sz="2000" noProof="0" dirty="0" err="1"/>
              <a:t>functions</a:t>
            </a:r>
            <a:endParaRPr lang="es-ES" sz="2000" noProof="0" dirty="0"/>
          </a:p>
          <a:p>
            <a:pPr algn="ctr"/>
            <a:endParaRPr lang="es-ES" sz="2000" noProof="0" dirty="0"/>
          </a:p>
          <a:p>
            <a:pPr algn="ctr"/>
            <a:r>
              <a:rPr lang="es-ES" sz="2000" noProof="0" dirty="0"/>
              <a:t>Linear </a:t>
            </a:r>
            <a:r>
              <a:rPr lang="es-ES" sz="2000" noProof="0" dirty="0" err="1"/>
              <a:t>units</a:t>
            </a:r>
            <a:endParaRPr lang="es-ES" sz="2000" noProof="0" dirty="0"/>
          </a:p>
        </p:txBody>
      </p:sp>
      <p:pic>
        <p:nvPicPr>
          <p:cNvPr id="9" name="Gráfico 8">
            <a:extLst>
              <a:ext uri="{FF2B5EF4-FFF2-40B4-BE49-F238E27FC236}">
                <a16:creationId xmlns:a16="http://schemas.microsoft.com/office/drawing/2014/main" id="{83C716FC-7070-6DA5-E116-195D4CD9BD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0" name="object 16">
            <a:extLst>
              <a:ext uri="{FF2B5EF4-FFF2-40B4-BE49-F238E27FC236}">
                <a16:creationId xmlns:a16="http://schemas.microsoft.com/office/drawing/2014/main" id="{C319E249-48A9-70AD-7ACE-23CF9ABF613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s-ES" sz="2500" kern="0" noProof="0" dirty="0" err="1"/>
              <a:t>Learning</a:t>
            </a:r>
            <a:r>
              <a:rPr lang="es-ES" sz="2500" kern="0" noProof="0" dirty="0"/>
              <a:t> </a:t>
            </a:r>
            <a:r>
              <a:rPr lang="es-ES" sz="2500" kern="0" noProof="0" dirty="0" err="1"/>
              <a:t>outcome</a:t>
            </a:r>
            <a:r>
              <a:rPr lang="es-ES" sz="2500" kern="0" noProof="0" dirty="0"/>
              <a:t> #4 – Ring </a:t>
            </a:r>
            <a:r>
              <a:rPr lang="es-ES" sz="2500" kern="0" noProof="0" dirty="0" err="1"/>
              <a:t>Resonator</a:t>
            </a:r>
            <a:endParaRPr lang="es-ES" sz="2500" kern="0" noProof="0" dirty="0"/>
          </a:p>
          <a:p>
            <a:pPr marL="12700">
              <a:spcBef>
                <a:spcPts val="100"/>
              </a:spcBef>
            </a:pPr>
            <a:r>
              <a:rPr lang="es-ES" b="0" kern="0" spc="-5" noProof="0" dirty="0">
                <a:latin typeface="+mj-lt"/>
                <a:cs typeface="Lucida Sans"/>
              </a:rPr>
              <a:t>Single ring </a:t>
            </a:r>
            <a:r>
              <a:rPr lang="es-ES" b="0" kern="0" spc="-5" noProof="0" dirty="0" err="1">
                <a:latin typeface="+mj-lt"/>
                <a:cs typeface="Lucida Sans"/>
              </a:rPr>
              <a:t>resonator</a:t>
            </a:r>
            <a:r>
              <a:rPr lang="es-ES" b="0" kern="0" spc="-5" noProof="0" dirty="0">
                <a:latin typeface="+mj-lt"/>
                <a:cs typeface="Lucida Sans"/>
              </a:rPr>
              <a:t> – </a:t>
            </a:r>
            <a:r>
              <a:rPr lang="es-ES" b="0" kern="0" spc="-5" noProof="0" dirty="0" err="1">
                <a:latin typeface="+mj-lt"/>
                <a:cs typeface="Lucida Sans"/>
              </a:rPr>
              <a:t>most</a:t>
            </a:r>
            <a:r>
              <a:rPr lang="es-ES" b="0" kern="0" spc="-5" noProof="0" dirty="0">
                <a:latin typeface="+mj-lt"/>
                <a:cs typeface="Lucida Sans"/>
              </a:rPr>
              <a:t> simple case Constant </a:t>
            </a:r>
            <a:r>
              <a:rPr lang="es-ES" b="0" kern="0" spc="-5" noProof="0" dirty="0" err="1">
                <a:latin typeface="+mj-lt"/>
                <a:cs typeface="Lucida Sans"/>
              </a:rPr>
              <a:t>coupler</a:t>
            </a:r>
            <a:r>
              <a:rPr lang="es-ES" b="0" kern="0" spc="-5" noProof="0" dirty="0">
                <a:latin typeface="+mj-lt"/>
                <a:cs typeface="Lucida Sans"/>
              </a:rPr>
              <a:t> K (no </a:t>
            </a:r>
            <a:r>
              <a:rPr lang="es-ES" b="0" kern="0" spc="-5" noProof="0" dirty="0" err="1">
                <a:latin typeface="+mj-lt"/>
                <a:cs typeface="Lucida Sans"/>
              </a:rPr>
              <a:t>wavelength</a:t>
            </a:r>
            <a:r>
              <a:rPr lang="es-ES" b="0" kern="0" spc="-5" noProof="0" dirty="0">
                <a:latin typeface="+mj-lt"/>
                <a:cs typeface="Lucida Sans"/>
              </a:rPr>
              <a:t> </a:t>
            </a:r>
            <a:r>
              <a:rPr lang="es-ES" b="0" kern="0" spc="-5" noProof="0" dirty="0" err="1">
                <a:latin typeface="+mj-lt"/>
                <a:cs typeface="Lucida Sans"/>
              </a:rPr>
              <a:t>variation</a:t>
            </a:r>
            <a:r>
              <a:rPr lang="es-ES" b="0" kern="0" spc="-5" noProof="0" dirty="0">
                <a:latin typeface="+mj-lt"/>
                <a:cs typeface="Lucida Sans"/>
              </a:rPr>
              <a:t>)</a:t>
            </a:r>
          </a:p>
        </p:txBody>
      </p:sp>
      <p:pic>
        <p:nvPicPr>
          <p:cNvPr id="4" name="Picture 3">
            <a:extLst>
              <a:ext uri="{FF2B5EF4-FFF2-40B4-BE49-F238E27FC236}">
                <a16:creationId xmlns:a16="http://schemas.microsoft.com/office/drawing/2014/main" id="{0D75640B-CC7F-4E84-8139-E6C80E2E5692}"/>
              </a:ext>
            </a:extLst>
          </p:cNvPr>
          <p:cNvPicPr>
            <a:picLocks noChangeAspect="1"/>
          </p:cNvPicPr>
          <p:nvPr/>
        </p:nvPicPr>
        <p:blipFill>
          <a:blip r:embed="rId3"/>
          <a:stretch>
            <a:fillRect/>
          </a:stretch>
        </p:blipFill>
        <p:spPr>
          <a:xfrm>
            <a:off x="676835" y="1981200"/>
            <a:ext cx="3718983" cy="2133600"/>
          </a:xfrm>
          <a:prstGeom prst="rect">
            <a:avLst/>
          </a:prstGeom>
        </p:spPr>
      </p:pic>
      <p:pic>
        <p:nvPicPr>
          <p:cNvPr id="13" name="Picture 12">
            <a:extLst>
              <a:ext uri="{FF2B5EF4-FFF2-40B4-BE49-F238E27FC236}">
                <a16:creationId xmlns:a16="http://schemas.microsoft.com/office/drawing/2014/main" id="{D03F6282-240F-A758-720D-B57885D54EBC}"/>
              </a:ext>
            </a:extLst>
          </p:cNvPr>
          <p:cNvPicPr>
            <a:picLocks noChangeAspect="1"/>
          </p:cNvPicPr>
          <p:nvPr/>
        </p:nvPicPr>
        <p:blipFill>
          <a:blip r:embed="rId4"/>
          <a:stretch>
            <a:fillRect/>
          </a:stretch>
        </p:blipFill>
        <p:spPr>
          <a:xfrm>
            <a:off x="4937579" y="1866083"/>
            <a:ext cx="3231239" cy="2410607"/>
          </a:xfrm>
          <a:prstGeom prst="rect">
            <a:avLst/>
          </a:prstGeom>
        </p:spPr>
      </p:pic>
      <p:pic>
        <p:nvPicPr>
          <p:cNvPr id="7" name="Picture 6">
            <a:extLst>
              <a:ext uri="{FF2B5EF4-FFF2-40B4-BE49-F238E27FC236}">
                <a16:creationId xmlns:a16="http://schemas.microsoft.com/office/drawing/2014/main" id="{7F919223-2BB8-E9B9-B62A-2BEFB05ACB01}"/>
              </a:ext>
            </a:extLst>
          </p:cNvPr>
          <p:cNvPicPr>
            <a:picLocks noChangeAspect="1"/>
          </p:cNvPicPr>
          <p:nvPr/>
        </p:nvPicPr>
        <p:blipFill>
          <a:blip r:embed="rId5"/>
          <a:stretch>
            <a:fillRect/>
          </a:stretch>
        </p:blipFill>
        <p:spPr>
          <a:xfrm>
            <a:off x="4937579" y="5642158"/>
            <a:ext cx="1384960" cy="589725"/>
          </a:xfrm>
          <a:prstGeom prst="rect">
            <a:avLst/>
          </a:prstGeom>
        </p:spPr>
      </p:pic>
    </p:spTree>
    <p:extLst>
      <p:ext uri="{BB962C8B-B14F-4D97-AF65-F5344CB8AC3E}">
        <p14:creationId xmlns:p14="http://schemas.microsoft.com/office/powerpoint/2010/main" val="543184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2DF-810F-7BDA-CFF3-0CFEE760301A}"/>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4915C280-A84A-95DA-94D2-FE062C8ED61F}"/>
              </a:ext>
            </a:extLst>
          </p:cNvPr>
          <p:cNvSpPr>
            <a:spLocks noGrp="1"/>
          </p:cNvSpPr>
          <p:nvPr>
            <p:ph type="ftr" sz="quarter" idx="5"/>
          </p:nvPr>
        </p:nvSpPr>
        <p:spPr/>
        <p:txBody>
          <a:bodyPr/>
          <a:lstStyle/>
          <a:p>
            <a:r>
              <a:rPr lang="es-ES" noProof="0" dirty="0"/>
              <a:t>LAB 3.0. CIRCUITS &amp; COMPACT MODELS</a:t>
            </a:r>
          </a:p>
        </p:txBody>
      </p:sp>
      <p:sp>
        <p:nvSpPr>
          <p:cNvPr id="6" name="Marcador de número de diapositiva 5">
            <a:extLst>
              <a:ext uri="{FF2B5EF4-FFF2-40B4-BE49-F238E27FC236}">
                <a16:creationId xmlns:a16="http://schemas.microsoft.com/office/drawing/2014/main" id="{E919F9EF-02D5-71FC-C2BC-F8EC5B26723E}"/>
              </a:ext>
            </a:extLst>
          </p:cNvPr>
          <p:cNvSpPr>
            <a:spLocks noGrp="1"/>
          </p:cNvSpPr>
          <p:nvPr>
            <p:ph type="sldNum" sz="quarter" idx="7"/>
          </p:nvPr>
        </p:nvSpPr>
        <p:spPr/>
        <p:txBody>
          <a:bodyPr/>
          <a:lstStyle/>
          <a:p>
            <a:fld id="{C2F52289-4012-4053-9770-FE82CEB9514F}" type="slidenum">
              <a:rPr lang="es-ES" noProof="0" smtClean="0"/>
              <a:pPr/>
              <a:t>9</a:t>
            </a:fld>
            <a:endParaRPr lang="es-ES" noProof="0" dirty="0"/>
          </a:p>
        </p:txBody>
      </p:sp>
      <p:sp>
        <p:nvSpPr>
          <p:cNvPr id="8" name="CuadroTexto 7">
            <a:extLst>
              <a:ext uri="{FF2B5EF4-FFF2-40B4-BE49-F238E27FC236}">
                <a16:creationId xmlns:a16="http://schemas.microsoft.com/office/drawing/2014/main" id="{3BC6D2B9-07F5-E2FA-C9AD-029B63B098DA}"/>
              </a:ext>
            </a:extLst>
          </p:cNvPr>
          <p:cNvSpPr txBox="1"/>
          <p:nvPr/>
        </p:nvSpPr>
        <p:spPr>
          <a:xfrm>
            <a:off x="611028" y="4670706"/>
            <a:ext cx="11199530" cy="1569660"/>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a:latin typeface="Arial" panose="020B0604020202020204" pitchFamily="34" charset="0"/>
                <a:cs typeface="Arial" panose="020B0604020202020204" pitchFamily="34" charset="0"/>
              </a:rPr>
              <a:t>En este caso se ha utilizado un anillo acoplado a dos guías de onda. En la función de transferencia podemos ver que sí aparecen las muescas, pero en este caso se invierten para la segunda </a:t>
            </a:r>
            <a:r>
              <a:rPr lang="es-ES" sz="1200" dirty="0">
                <a:latin typeface="Arial" panose="020B0604020202020204" pitchFamily="34" charset="0"/>
                <a:cs typeface="Arial" panose="020B0604020202020204" pitchFamily="34" charset="0"/>
              </a:rPr>
              <a:t>g</a:t>
            </a:r>
            <a:r>
              <a:rPr lang="es-ES" sz="1200" noProof="0" dirty="0" err="1">
                <a:latin typeface="Arial" panose="020B0604020202020204" pitchFamily="34" charset="0"/>
                <a:cs typeface="Arial" panose="020B0604020202020204" pitchFamily="34" charset="0"/>
              </a:rPr>
              <a:t>uía</a:t>
            </a:r>
            <a:r>
              <a:rPr lang="es-ES" sz="1200" noProof="0" dirty="0">
                <a:latin typeface="Arial" panose="020B0604020202020204" pitchFamily="34" charset="0"/>
                <a:cs typeface="Arial" panose="020B0604020202020204" pitchFamily="34" charset="0"/>
              </a:rPr>
              <a:t> de onda. De esta forma en brazo corto tenemos un filtro elimina banda y en el brazo después del anillo tenemos un filtro paso banda. Al tener un coeficiente de acoplo bajo, la luz se queda más tiempo dentro del anillo y aumentamos el factor de calidad, esto implica que las muescas serán más estrechas. Si tenemos un coeficiente alto ocurre lo contrario, la luz se sale rápidamente del anillo y obtenemos un factor de calidad más bajo, teniendo un mayor ancho de banda en las bandas de paso.</a:t>
            </a:r>
          </a:p>
          <a:p>
            <a:pPr algn="just"/>
            <a:r>
              <a:rPr lang="es-ES" sz="1200" dirty="0">
                <a:latin typeface="Arial" panose="020B0604020202020204" pitchFamily="34" charset="0"/>
                <a:cs typeface="Arial" panose="020B0604020202020204" pitchFamily="34" charset="0"/>
              </a:rPr>
              <a:t>Si la transmisión máxima es 0 dB y la mínima es de -80 dB, tenemos una ER de 80 dB.</a:t>
            </a:r>
          </a:p>
          <a:p>
            <a:pPr algn="just"/>
            <a:r>
              <a:rPr lang="es-ES" sz="1200" dirty="0">
                <a:latin typeface="Arial" panose="020B0604020202020204" pitchFamily="34" charset="0"/>
                <a:cs typeface="Arial" panose="020B0604020202020204" pitchFamily="34" charset="0"/>
              </a:rPr>
              <a:t>Para tener acoplamiento crítico debemos de perder la misma potencia en el anillo de la que transmitimos por este, al ver que llega a los -80 dB, podemos decir que ya está en el acoplamiento crítico, ya que es suficientemente bajo.</a:t>
            </a:r>
            <a:r>
              <a:rPr lang="es-ES" sz="1200" noProof="0" dirty="0">
                <a:latin typeface="Arial" panose="020B0604020202020204" pitchFamily="34" charset="0"/>
                <a:cs typeface="Arial" panose="020B0604020202020204" pitchFamily="34" charset="0"/>
              </a:rPr>
              <a:t> </a:t>
            </a:r>
          </a:p>
        </p:txBody>
      </p:sp>
      <p:sp>
        <p:nvSpPr>
          <p:cNvPr id="3" name="Rectángulo 2">
            <a:extLst>
              <a:ext uri="{FF2B5EF4-FFF2-40B4-BE49-F238E27FC236}">
                <a16:creationId xmlns:a16="http://schemas.microsoft.com/office/drawing/2014/main" id="{E54DA3AC-DFE0-BB51-7C71-7CD9087359D0}"/>
              </a:ext>
            </a:extLst>
          </p:cNvPr>
          <p:cNvSpPr/>
          <p:nvPr/>
        </p:nvSpPr>
        <p:spPr>
          <a:xfrm>
            <a:off x="8610600" y="1228744"/>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s-ES" sz="1200" b="1" noProof="0" dirty="0" err="1">
                <a:solidFill>
                  <a:schemeClr val="tx1"/>
                </a:solidFill>
                <a:latin typeface="Arial" panose="020B0604020202020204" pitchFamily="34" charset="0"/>
                <a:cs typeface="Arial" panose="020B0604020202020204" pitchFamily="34" charset="0"/>
              </a:rPr>
              <a:t>Hints</a:t>
            </a:r>
            <a:r>
              <a:rPr lang="es-ES" sz="1200" b="1" noProof="0" dirty="0">
                <a:solidFill>
                  <a:schemeClr val="tx1"/>
                </a:solidFill>
                <a:latin typeface="Arial" panose="020B0604020202020204" pitchFamily="34" charset="0"/>
                <a:cs typeface="Arial" panose="020B0604020202020204" pitchFamily="34" charset="0"/>
              </a:rPr>
              <a:t>:</a:t>
            </a:r>
            <a:endParaRPr lang="es-ES" sz="1200" noProof="0" dirty="0">
              <a:solidFill>
                <a:schemeClr val="tx1"/>
              </a:solidFill>
              <a:latin typeface="Arial" panose="020B0604020202020204" pitchFamily="34" charset="0"/>
              <a:cs typeface="Arial" panose="020B0604020202020204" pitchFamily="34" charset="0"/>
            </a:endParaRPr>
          </a:p>
          <a:p>
            <a:pPr algn="just"/>
            <a:endParaRPr lang="es-ES" sz="1200" noProof="0" dirty="0">
              <a:solidFill>
                <a:schemeClr val="tx1"/>
              </a:solidFill>
              <a:latin typeface="Arial" panose="020B0604020202020204" pitchFamily="34" charset="0"/>
              <a:cs typeface="Arial" panose="020B0604020202020204" pitchFamily="34" charset="0"/>
            </a:endParaRPr>
          </a:p>
          <a:p>
            <a:pPr algn="just"/>
            <a:r>
              <a:rPr lang="es-ES" sz="1200" noProof="0" dirty="0" err="1">
                <a:solidFill>
                  <a:schemeClr val="tx1"/>
                </a:solidFill>
                <a:latin typeface="Arial" panose="020B0604020202020204" pitchFamily="34" charset="0"/>
                <a:cs typeface="Arial" panose="020B0604020202020204" pitchFamily="34" charset="0"/>
              </a:rPr>
              <a:t>Design</a:t>
            </a:r>
            <a:r>
              <a:rPr lang="es-ES" sz="1200" noProof="0" dirty="0">
                <a:solidFill>
                  <a:schemeClr val="tx1"/>
                </a:solidFill>
                <a:latin typeface="Arial" panose="020B0604020202020204" pitchFamily="34" charset="0"/>
                <a:cs typeface="Arial" panose="020B0604020202020204" pitchFamily="34" charset="0"/>
              </a:rPr>
              <a:t> </a:t>
            </a:r>
            <a:r>
              <a:rPr lang="es-ES" sz="1200" noProof="0" dirty="0" err="1">
                <a:solidFill>
                  <a:schemeClr val="tx1"/>
                </a:solidFill>
                <a:latin typeface="Arial" panose="020B0604020202020204" pitchFamily="34" charset="0"/>
                <a:cs typeface="Arial" panose="020B0604020202020204" pitchFamily="34" charset="0"/>
              </a:rPr>
              <a:t>the</a:t>
            </a:r>
            <a:r>
              <a:rPr lang="es-ES" sz="1200" noProof="0" dirty="0">
                <a:solidFill>
                  <a:schemeClr val="tx1"/>
                </a:solidFill>
                <a:latin typeface="Arial" panose="020B0604020202020204" pitchFamily="34" charset="0"/>
                <a:cs typeface="Arial" panose="020B0604020202020204" pitchFamily="34" charset="0"/>
              </a:rPr>
              <a:t> </a:t>
            </a:r>
            <a:r>
              <a:rPr lang="es-ES" sz="1200" noProof="0" dirty="0" err="1">
                <a:solidFill>
                  <a:schemeClr val="tx1"/>
                </a:solidFill>
                <a:latin typeface="Arial" panose="020B0604020202020204" pitchFamily="34" charset="0"/>
                <a:cs typeface="Arial" panose="020B0604020202020204" pitchFamily="34" charset="0"/>
              </a:rPr>
              <a:t>perimeter</a:t>
            </a:r>
            <a:r>
              <a:rPr lang="es-ES" sz="1200" noProof="0" dirty="0">
                <a:solidFill>
                  <a:schemeClr val="tx1"/>
                </a:solidFill>
                <a:latin typeface="Arial" panose="020B0604020202020204" pitchFamily="34" charset="0"/>
                <a:cs typeface="Arial" panose="020B0604020202020204" pitchFamily="34" charset="0"/>
              </a:rPr>
              <a:t> </a:t>
            </a:r>
            <a:r>
              <a:rPr lang="es-ES" sz="1200" noProof="0" dirty="0" err="1">
                <a:solidFill>
                  <a:schemeClr val="tx1"/>
                </a:solidFill>
                <a:latin typeface="Arial" panose="020B0604020202020204" pitchFamily="34" charset="0"/>
                <a:cs typeface="Arial" panose="020B0604020202020204" pitchFamily="34" charset="0"/>
              </a:rPr>
              <a:t>for</a:t>
            </a:r>
            <a:r>
              <a:rPr lang="es-ES" sz="1200" noProof="0" dirty="0">
                <a:solidFill>
                  <a:schemeClr val="tx1"/>
                </a:solidFill>
                <a:latin typeface="Arial" panose="020B0604020202020204" pitchFamily="34" charset="0"/>
                <a:cs typeface="Arial" panose="020B0604020202020204" pitchFamily="34" charset="0"/>
              </a:rPr>
              <a:t> a FSR = 15 nm. </a:t>
            </a:r>
          </a:p>
          <a:p>
            <a:pPr algn="just"/>
            <a:endParaRPr lang="es-ES" sz="1200" noProof="0" dirty="0">
              <a:solidFill>
                <a:schemeClr val="tx1"/>
              </a:solidFill>
              <a:latin typeface="Arial" panose="020B0604020202020204" pitchFamily="34" charset="0"/>
              <a:cs typeface="Arial" panose="020B0604020202020204" pitchFamily="34" charset="0"/>
            </a:endParaRPr>
          </a:p>
          <a:p>
            <a:pPr algn="just"/>
            <a:r>
              <a:rPr lang="es-ES" sz="1200" noProof="0" dirty="0">
                <a:solidFill>
                  <a:schemeClr val="tx1"/>
                </a:solidFill>
                <a:latin typeface="Arial" panose="020B0604020202020204" pitchFamily="34" charset="0"/>
                <a:cs typeface="Arial" panose="020B0604020202020204" pitchFamily="34" charset="0"/>
              </a:rPr>
              <a:t>Use </a:t>
            </a:r>
            <a:r>
              <a:rPr lang="es-ES" sz="1200" noProof="0" dirty="0" err="1">
                <a:solidFill>
                  <a:schemeClr val="tx1"/>
                </a:solidFill>
                <a:latin typeface="Arial" panose="020B0604020202020204" pitchFamily="34" charset="0"/>
                <a:cs typeface="Arial" panose="020B0604020202020204" pitchFamily="34" charset="0"/>
              </a:rPr>
              <a:t>equations</a:t>
            </a:r>
            <a:r>
              <a:rPr lang="es-ES" sz="1200" noProof="0" dirty="0">
                <a:solidFill>
                  <a:schemeClr val="tx1"/>
                </a:solidFill>
                <a:latin typeface="Arial" panose="020B0604020202020204" pitchFamily="34" charset="0"/>
                <a:cs typeface="Arial" panose="020B0604020202020204" pitchFamily="34" charset="0"/>
              </a:rPr>
              <a:t> </a:t>
            </a:r>
            <a:r>
              <a:rPr lang="es-ES" sz="1200" noProof="0" dirty="0" err="1">
                <a:solidFill>
                  <a:schemeClr val="tx1"/>
                </a:solidFill>
                <a:latin typeface="Arial" panose="020B0604020202020204" pitchFamily="34" charset="0"/>
                <a:cs typeface="Arial" panose="020B0604020202020204" pitchFamily="34" charset="0"/>
              </a:rPr>
              <a:t>given</a:t>
            </a:r>
            <a:r>
              <a:rPr lang="es-ES" sz="1200" noProof="0" dirty="0">
                <a:solidFill>
                  <a:schemeClr val="tx1"/>
                </a:solidFill>
                <a:latin typeface="Arial" panose="020B0604020202020204" pitchFamily="34" charset="0"/>
                <a:cs typeface="Arial" panose="020B0604020202020204" pitchFamily="34" charset="0"/>
              </a:rPr>
              <a:t> in </a:t>
            </a:r>
            <a:r>
              <a:rPr lang="es-ES" sz="1200" noProof="0" dirty="0" err="1">
                <a:solidFill>
                  <a:schemeClr val="tx1"/>
                </a:solidFill>
                <a:latin typeface="Arial" panose="020B0604020202020204" pitchFamily="34" charset="0"/>
                <a:cs typeface="Arial" panose="020B0604020202020204" pitchFamily="34" charset="0"/>
              </a:rPr>
              <a:t>class</a:t>
            </a:r>
            <a:r>
              <a:rPr lang="es-ES" sz="1200" noProof="0" dirty="0">
                <a:solidFill>
                  <a:schemeClr val="tx1"/>
                </a:solidFill>
                <a:latin typeface="Arial" panose="020B0604020202020204" pitchFamily="34" charset="0"/>
                <a:cs typeface="Arial" panose="020B0604020202020204" pitchFamily="34" charset="0"/>
              </a:rPr>
              <a:t> </a:t>
            </a:r>
            <a:r>
              <a:rPr lang="es-ES" sz="1200" noProof="0" dirty="0" err="1">
                <a:solidFill>
                  <a:schemeClr val="tx1"/>
                </a:solidFill>
                <a:latin typeface="Arial" panose="020B0604020202020204" pitchFamily="34" charset="0"/>
                <a:cs typeface="Arial" panose="020B0604020202020204" pitchFamily="34" charset="0"/>
              </a:rPr>
              <a:t>that</a:t>
            </a:r>
            <a:r>
              <a:rPr lang="es-ES" sz="1200" noProof="0" dirty="0">
                <a:solidFill>
                  <a:schemeClr val="tx1"/>
                </a:solidFill>
                <a:latin typeface="Arial" panose="020B0604020202020204" pitchFamily="34" charset="0"/>
                <a:cs typeface="Arial" panose="020B0604020202020204" pitchFamily="34" charset="0"/>
              </a:rPr>
              <a:t> relate FSR and </a:t>
            </a:r>
            <a:r>
              <a:rPr lang="es-ES" sz="1200" noProof="0" dirty="0" err="1">
                <a:solidFill>
                  <a:schemeClr val="tx1"/>
                </a:solidFill>
                <a:latin typeface="Arial" panose="020B0604020202020204" pitchFamily="34" charset="0"/>
                <a:cs typeface="Arial" panose="020B0604020202020204" pitchFamily="34" charset="0"/>
              </a:rPr>
              <a:t>perimeter</a:t>
            </a:r>
            <a:r>
              <a:rPr lang="es-ES" sz="1200" noProof="0" dirty="0">
                <a:solidFill>
                  <a:schemeClr val="tx1"/>
                </a:solidFill>
                <a:latin typeface="Arial" panose="020B0604020202020204" pitchFamily="34" charset="0"/>
                <a:cs typeface="Arial" panose="020B0604020202020204" pitchFamily="34" charset="0"/>
              </a:rPr>
              <a:t>.</a:t>
            </a:r>
          </a:p>
          <a:p>
            <a:pPr algn="just"/>
            <a:endParaRPr lang="es-ES" sz="1200" noProof="0" dirty="0">
              <a:solidFill>
                <a:schemeClr val="tx1"/>
              </a:solidFill>
              <a:latin typeface="Arial" panose="020B0604020202020204" pitchFamily="34" charset="0"/>
              <a:cs typeface="Arial" panose="020B0604020202020204" pitchFamily="34" charset="0"/>
            </a:endParaRPr>
          </a:p>
          <a:p>
            <a:pPr algn="just"/>
            <a:endParaRPr lang="es-ES" sz="1200" noProof="0" dirty="0">
              <a:solidFill>
                <a:schemeClr val="tx1"/>
              </a:solidFill>
              <a:latin typeface="Arial" panose="020B0604020202020204" pitchFamily="34" charset="0"/>
              <a:cs typeface="Arial" panose="020B0604020202020204" pitchFamily="34" charset="0"/>
            </a:endParaRPr>
          </a:p>
          <a:p>
            <a:pPr algn="just"/>
            <a:endParaRPr lang="es-ES" sz="1200" noProof="0" dirty="0">
              <a:solidFill>
                <a:schemeClr val="tx1"/>
              </a:solidFill>
              <a:latin typeface="Arial" panose="020B0604020202020204" pitchFamily="34" charset="0"/>
              <a:cs typeface="Arial" panose="020B0604020202020204" pitchFamily="34" charset="0"/>
            </a:endParaRPr>
          </a:p>
        </p:txBody>
      </p:sp>
      <p:sp>
        <p:nvSpPr>
          <p:cNvPr id="12" name="CuadroTexto 11">
            <a:extLst>
              <a:ext uri="{FF2B5EF4-FFF2-40B4-BE49-F238E27FC236}">
                <a16:creationId xmlns:a16="http://schemas.microsoft.com/office/drawing/2014/main" id="{3BD35A6E-6540-9761-4128-0E43122290D4}"/>
              </a:ext>
            </a:extLst>
          </p:cNvPr>
          <p:cNvSpPr txBox="1"/>
          <p:nvPr/>
        </p:nvSpPr>
        <p:spPr>
          <a:xfrm>
            <a:off x="5536543" y="2494307"/>
            <a:ext cx="2033313" cy="1323439"/>
          </a:xfrm>
          <a:prstGeom prst="rect">
            <a:avLst/>
          </a:prstGeom>
          <a:noFill/>
        </p:spPr>
        <p:txBody>
          <a:bodyPr wrap="none" rtlCol="0">
            <a:spAutoFit/>
          </a:bodyPr>
          <a:lstStyle/>
          <a:p>
            <a:pPr algn="ctr"/>
            <a:r>
              <a:rPr lang="es-ES" sz="2000" noProof="0" dirty="0"/>
              <a:t>Single ring</a:t>
            </a:r>
          </a:p>
          <a:p>
            <a:pPr algn="ctr"/>
            <a:r>
              <a:rPr lang="es-ES" sz="2000" noProof="0" dirty="0"/>
              <a:t>transfer </a:t>
            </a:r>
            <a:r>
              <a:rPr lang="es-ES" sz="2000" noProof="0" dirty="0" err="1"/>
              <a:t>functions</a:t>
            </a:r>
            <a:endParaRPr lang="es-ES" sz="2000" noProof="0" dirty="0"/>
          </a:p>
          <a:p>
            <a:pPr algn="ctr"/>
            <a:endParaRPr lang="es-ES" sz="2000" noProof="0" dirty="0"/>
          </a:p>
          <a:p>
            <a:pPr algn="ctr"/>
            <a:r>
              <a:rPr lang="es-ES" sz="2000" noProof="0" dirty="0" err="1"/>
              <a:t>Logaritmic</a:t>
            </a:r>
            <a:r>
              <a:rPr lang="es-ES" sz="2000" noProof="0" dirty="0"/>
              <a:t> </a:t>
            </a:r>
            <a:r>
              <a:rPr lang="es-ES" sz="2000" noProof="0" dirty="0" err="1"/>
              <a:t>units</a:t>
            </a:r>
            <a:endParaRPr lang="es-ES" sz="2000" noProof="0" dirty="0"/>
          </a:p>
        </p:txBody>
      </p:sp>
      <p:sp>
        <p:nvSpPr>
          <p:cNvPr id="16" name="CuadroTexto 15">
            <a:extLst>
              <a:ext uri="{FF2B5EF4-FFF2-40B4-BE49-F238E27FC236}">
                <a16:creationId xmlns:a16="http://schemas.microsoft.com/office/drawing/2014/main" id="{B49B3613-E785-3FCB-DA8D-2B43EB104C5D}"/>
              </a:ext>
            </a:extLst>
          </p:cNvPr>
          <p:cNvSpPr txBox="1"/>
          <p:nvPr/>
        </p:nvSpPr>
        <p:spPr>
          <a:xfrm>
            <a:off x="1499379" y="2478160"/>
            <a:ext cx="2033313" cy="1323439"/>
          </a:xfrm>
          <a:prstGeom prst="rect">
            <a:avLst/>
          </a:prstGeom>
          <a:noFill/>
        </p:spPr>
        <p:txBody>
          <a:bodyPr wrap="none" rtlCol="0">
            <a:spAutoFit/>
          </a:bodyPr>
          <a:lstStyle/>
          <a:p>
            <a:pPr algn="ctr"/>
            <a:r>
              <a:rPr lang="es-ES" sz="2000" noProof="0" dirty="0"/>
              <a:t>Single ring</a:t>
            </a:r>
          </a:p>
          <a:p>
            <a:pPr algn="ctr"/>
            <a:r>
              <a:rPr lang="es-ES" sz="2000" noProof="0" dirty="0"/>
              <a:t>transfer </a:t>
            </a:r>
            <a:r>
              <a:rPr lang="es-ES" sz="2000" noProof="0" dirty="0" err="1"/>
              <a:t>functions</a:t>
            </a:r>
            <a:endParaRPr lang="es-ES" sz="2000" noProof="0" dirty="0"/>
          </a:p>
          <a:p>
            <a:pPr algn="ctr"/>
            <a:endParaRPr lang="es-ES" sz="2000" noProof="0" dirty="0"/>
          </a:p>
          <a:p>
            <a:pPr algn="ctr"/>
            <a:r>
              <a:rPr lang="es-ES" sz="2000" noProof="0" dirty="0"/>
              <a:t>Linear </a:t>
            </a:r>
            <a:r>
              <a:rPr lang="es-ES" sz="2000" noProof="0" dirty="0" err="1"/>
              <a:t>units</a:t>
            </a:r>
            <a:endParaRPr lang="es-ES" sz="2000" noProof="0" dirty="0"/>
          </a:p>
        </p:txBody>
      </p:sp>
      <p:pic>
        <p:nvPicPr>
          <p:cNvPr id="11" name="Gráfico 10">
            <a:extLst>
              <a:ext uri="{FF2B5EF4-FFF2-40B4-BE49-F238E27FC236}">
                <a16:creationId xmlns:a16="http://schemas.microsoft.com/office/drawing/2014/main" id="{64B3EEA8-5B6A-F628-0B9C-42450CEE9B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4" name="object 16">
            <a:extLst>
              <a:ext uri="{FF2B5EF4-FFF2-40B4-BE49-F238E27FC236}">
                <a16:creationId xmlns:a16="http://schemas.microsoft.com/office/drawing/2014/main" id="{4E9E05B5-9445-DD50-60E9-03B04ED264D4}"/>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s-ES" sz="2500" kern="0" noProof="0" dirty="0" err="1"/>
              <a:t>Learning</a:t>
            </a:r>
            <a:r>
              <a:rPr lang="es-ES" sz="2500" kern="0" noProof="0" dirty="0"/>
              <a:t> </a:t>
            </a:r>
            <a:r>
              <a:rPr lang="es-ES" sz="2500" kern="0" noProof="0" dirty="0" err="1"/>
              <a:t>outcome</a:t>
            </a:r>
            <a:r>
              <a:rPr lang="es-ES" sz="2500" kern="0" noProof="0" dirty="0"/>
              <a:t> #5 – Ring </a:t>
            </a:r>
            <a:r>
              <a:rPr lang="es-ES" sz="2500" kern="0" noProof="0" dirty="0" err="1"/>
              <a:t>resonator</a:t>
            </a:r>
            <a:r>
              <a:rPr lang="es-ES" sz="2500" kern="0" noProof="0" dirty="0"/>
              <a:t> </a:t>
            </a:r>
            <a:r>
              <a:rPr lang="es-ES" sz="2500" kern="0" noProof="0" dirty="0" err="1"/>
              <a:t>design</a:t>
            </a:r>
            <a:endParaRPr lang="es-ES" sz="2500" kern="0" noProof="0" dirty="0"/>
          </a:p>
          <a:p>
            <a:pPr marL="12700">
              <a:spcBef>
                <a:spcPts val="100"/>
              </a:spcBef>
            </a:pPr>
            <a:r>
              <a:rPr lang="es-ES" b="0" kern="0" spc="-5" noProof="0" dirty="0" err="1">
                <a:latin typeface="+mj-lt"/>
                <a:cs typeface="Lucida Sans"/>
              </a:rPr>
              <a:t>Design</a:t>
            </a:r>
            <a:r>
              <a:rPr lang="es-ES" b="0" kern="0" spc="-5" noProof="0" dirty="0">
                <a:latin typeface="+mj-lt"/>
                <a:cs typeface="Lucida Sans"/>
              </a:rPr>
              <a:t> </a:t>
            </a:r>
            <a:r>
              <a:rPr lang="es-ES" b="0" kern="0" spc="-5" noProof="0" dirty="0" err="1">
                <a:latin typeface="+mj-lt"/>
                <a:cs typeface="Lucida Sans"/>
              </a:rPr>
              <a:t>the</a:t>
            </a:r>
            <a:r>
              <a:rPr lang="es-ES" b="0" kern="0" spc="-5" noProof="0" dirty="0">
                <a:latin typeface="+mj-lt"/>
                <a:cs typeface="Lucida Sans"/>
              </a:rPr>
              <a:t> </a:t>
            </a:r>
            <a:r>
              <a:rPr lang="es-ES" b="0" kern="0" spc="-5" noProof="0" dirty="0" err="1">
                <a:latin typeface="+mj-lt"/>
                <a:cs typeface="Lucida Sans"/>
              </a:rPr>
              <a:t>perimeter</a:t>
            </a:r>
            <a:r>
              <a:rPr lang="es-ES" b="0" kern="0" spc="-5" noProof="0" dirty="0">
                <a:latin typeface="+mj-lt"/>
                <a:cs typeface="Lucida Sans"/>
              </a:rPr>
              <a:t> </a:t>
            </a:r>
            <a:r>
              <a:rPr lang="es-ES" b="0" kern="0" spc="-5" noProof="0" dirty="0" err="1">
                <a:latin typeface="+mj-lt"/>
                <a:cs typeface="Lucida Sans"/>
              </a:rPr>
              <a:t>for</a:t>
            </a:r>
            <a:r>
              <a:rPr lang="es-ES" b="0" kern="0" spc="-5" noProof="0" dirty="0">
                <a:latin typeface="+mj-lt"/>
                <a:cs typeface="Lucida Sans"/>
              </a:rPr>
              <a:t> a FSR = 15 nm. </a:t>
            </a:r>
          </a:p>
        </p:txBody>
      </p:sp>
      <p:pic>
        <p:nvPicPr>
          <p:cNvPr id="4" name="Picture 3">
            <a:extLst>
              <a:ext uri="{FF2B5EF4-FFF2-40B4-BE49-F238E27FC236}">
                <a16:creationId xmlns:a16="http://schemas.microsoft.com/office/drawing/2014/main" id="{C33E9875-85FC-66A4-4EB6-C20D311C431D}"/>
              </a:ext>
            </a:extLst>
          </p:cNvPr>
          <p:cNvPicPr>
            <a:picLocks noChangeAspect="1"/>
          </p:cNvPicPr>
          <p:nvPr/>
        </p:nvPicPr>
        <p:blipFill>
          <a:blip r:embed="rId3"/>
          <a:stretch>
            <a:fillRect/>
          </a:stretch>
        </p:blipFill>
        <p:spPr>
          <a:xfrm>
            <a:off x="415923" y="1823397"/>
            <a:ext cx="4079875" cy="2286000"/>
          </a:xfrm>
          <a:prstGeom prst="rect">
            <a:avLst/>
          </a:prstGeom>
        </p:spPr>
      </p:pic>
      <p:pic>
        <p:nvPicPr>
          <p:cNvPr id="9" name="Picture 8">
            <a:extLst>
              <a:ext uri="{FF2B5EF4-FFF2-40B4-BE49-F238E27FC236}">
                <a16:creationId xmlns:a16="http://schemas.microsoft.com/office/drawing/2014/main" id="{197BE28C-0347-8676-3CD7-89E2AC5DB986}"/>
              </a:ext>
            </a:extLst>
          </p:cNvPr>
          <p:cNvPicPr>
            <a:picLocks noChangeAspect="1"/>
          </p:cNvPicPr>
          <p:nvPr/>
        </p:nvPicPr>
        <p:blipFill>
          <a:blip r:embed="rId4"/>
          <a:stretch>
            <a:fillRect/>
          </a:stretch>
        </p:blipFill>
        <p:spPr>
          <a:xfrm>
            <a:off x="4632146" y="1928587"/>
            <a:ext cx="3810000" cy="2130850"/>
          </a:xfrm>
          <a:prstGeom prst="rect">
            <a:avLst/>
          </a:prstGeom>
        </p:spPr>
      </p:pic>
    </p:spTree>
    <p:extLst>
      <p:ext uri="{BB962C8B-B14F-4D97-AF65-F5344CB8AC3E}">
        <p14:creationId xmlns:p14="http://schemas.microsoft.com/office/powerpoint/2010/main" val="2915989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s-ES" noProof="0" dirty="0"/>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s-ES" noProof="0" smtClean="0"/>
              <a:pPr/>
              <a:t>10</a:t>
            </a:fld>
            <a:endParaRPr lang="es-ES" noProof="0"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583240" y="5024005"/>
            <a:ext cx="11199530" cy="1015663"/>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a:latin typeface="Arial" panose="020B0604020202020204" pitchFamily="34" charset="0"/>
                <a:cs typeface="Arial" panose="020B0604020202020204" pitchFamily="34" charset="0"/>
              </a:rPr>
              <a:t>En los casos de K=0.1 y 0.2, existe sub acoplamiento, en este caso la luz entrante es menor de la que se pierde en el anillo.</a:t>
            </a:r>
          </a:p>
          <a:p>
            <a:pPr algn="just"/>
            <a:r>
              <a:rPr lang="es-ES" sz="1200" dirty="0">
                <a:latin typeface="Arial" panose="020B0604020202020204" pitchFamily="34" charset="0"/>
                <a:cs typeface="Arial" panose="020B0604020202020204" pitchFamily="34" charset="0"/>
              </a:rPr>
              <a:t>El caso de K=0.3 es el acoplamiento crítico, donde la potencia introducida es exactamente igual a la de perdida en el anillo, esto se muestra con la muesca que vemos más fácilmente en la gráfica en dB, donde vemos que llega por debajo de -60 dB</a:t>
            </a:r>
          </a:p>
          <a:p>
            <a:pPr algn="just"/>
            <a:r>
              <a:rPr lang="es-ES" sz="1200" noProof="0" dirty="0">
                <a:latin typeface="Arial" panose="020B0604020202020204" pitchFamily="34" charset="0"/>
                <a:cs typeface="Arial" panose="020B0604020202020204" pitchFamily="34" charset="0"/>
              </a:rPr>
              <a:t>A partir de este caso, para K&gt;0.3, nos encontramos con sobre acoplamiento, en este </a:t>
            </a:r>
            <a:r>
              <a:rPr lang="es-ES" sz="1200" noProof="0" dirty="0" err="1">
                <a:latin typeface="Arial" panose="020B0604020202020204" pitchFamily="34" charset="0"/>
                <a:cs typeface="Arial" panose="020B0604020202020204" pitchFamily="34" charset="0"/>
              </a:rPr>
              <a:t>régi</a:t>
            </a:r>
            <a:r>
              <a:rPr lang="es-ES" sz="1200" dirty="0" err="1">
                <a:latin typeface="Arial" panose="020B0604020202020204" pitchFamily="34" charset="0"/>
                <a:cs typeface="Arial" panose="020B0604020202020204" pitchFamily="34" charset="0"/>
              </a:rPr>
              <a:t>men</a:t>
            </a:r>
            <a:r>
              <a:rPr lang="es-ES" sz="1200" dirty="0">
                <a:latin typeface="Arial" panose="020B0604020202020204" pitchFamily="34" charset="0"/>
                <a:cs typeface="Arial" panose="020B0604020202020204" pitchFamily="34" charset="0"/>
              </a:rPr>
              <a:t> la luz entra y sale del anillo antes de que se pueda disipar, ensanchando la resonancia y haciendo la muesca cada vez más superficial.</a:t>
            </a:r>
            <a:endParaRPr lang="es-ES" sz="1200" noProof="0" dirty="0">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3277315" y="1419036"/>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9" name="Rectángulo 8">
            <a:extLst>
              <a:ext uri="{FF2B5EF4-FFF2-40B4-BE49-F238E27FC236}">
                <a16:creationId xmlns:a16="http://schemas.microsoft.com/office/drawing/2014/main" id="{11F0F5FC-B571-59FC-7890-3105A6A843BB}"/>
              </a:ext>
            </a:extLst>
          </p:cNvPr>
          <p:cNvSpPr/>
          <p:nvPr/>
        </p:nvSpPr>
        <p:spPr>
          <a:xfrm>
            <a:off x="5943600"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10" name="CuadroTexto 9">
            <a:extLst>
              <a:ext uri="{FF2B5EF4-FFF2-40B4-BE49-F238E27FC236}">
                <a16:creationId xmlns:a16="http://schemas.microsoft.com/office/drawing/2014/main" id="{3146642F-220B-8F6A-59A8-2D128DDF3BEB}"/>
              </a:ext>
            </a:extLst>
          </p:cNvPr>
          <p:cNvSpPr txBox="1"/>
          <p:nvPr/>
        </p:nvSpPr>
        <p:spPr>
          <a:xfrm>
            <a:off x="3529935" y="2104638"/>
            <a:ext cx="2033313" cy="1938992"/>
          </a:xfrm>
          <a:prstGeom prst="rect">
            <a:avLst/>
          </a:prstGeom>
          <a:noFill/>
        </p:spPr>
        <p:txBody>
          <a:bodyPr wrap="none" rtlCol="0">
            <a:spAutoFit/>
          </a:bodyPr>
          <a:lstStyle/>
          <a:p>
            <a:pPr algn="ctr"/>
            <a:r>
              <a:rPr lang="es-ES" sz="2000" noProof="0" dirty="0"/>
              <a:t>Single ring</a:t>
            </a:r>
          </a:p>
          <a:p>
            <a:pPr algn="ctr"/>
            <a:r>
              <a:rPr lang="es-ES" sz="2000" noProof="0" dirty="0"/>
              <a:t>transfer </a:t>
            </a:r>
            <a:r>
              <a:rPr lang="es-ES" sz="2000" noProof="0" dirty="0" err="1"/>
              <a:t>functions</a:t>
            </a:r>
            <a:endParaRPr lang="es-ES" sz="2000" noProof="0" dirty="0"/>
          </a:p>
          <a:p>
            <a:pPr algn="ctr"/>
            <a:endParaRPr lang="es-ES" sz="2000" noProof="0" dirty="0"/>
          </a:p>
          <a:p>
            <a:pPr algn="ctr"/>
            <a:r>
              <a:rPr lang="es-ES" sz="2000" noProof="0" dirty="0"/>
              <a:t>Linear </a:t>
            </a:r>
            <a:r>
              <a:rPr lang="es-ES" sz="2000" noProof="0" dirty="0" err="1"/>
              <a:t>units</a:t>
            </a:r>
            <a:endParaRPr lang="es-ES" sz="2000" noProof="0" dirty="0"/>
          </a:p>
          <a:p>
            <a:pPr algn="ctr"/>
            <a:endParaRPr lang="es-ES" sz="2000" noProof="0" dirty="0"/>
          </a:p>
          <a:p>
            <a:pPr algn="ctr"/>
            <a:r>
              <a:rPr lang="es-ES" sz="2000" noProof="0" dirty="0"/>
              <a:t>K=</a:t>
            </a:r>
          </a:p>
        </p:txBody>
      </p:sp>
      <p:sp>
        <p:nvSpPr>
          <p:cNvPr id="13" name="CuadroTexto 12">
            <a:extLst>
              <a:ext uri="{FF2B5EF4-FFF2-40B4-BE49-F238E27FC236}">
                <a16:creationId xmlns:a16="http://schemas.microsoft.com/office/drawing/2014/main" id="{057C499E-829F-FB11-9128-843C937CB822}"/>
              </a:ext>
            </a:extLst>
          </p:cNvPr>
          <p:cNvSpPr txBox="1"/>
          <p:nvPr/>
        </p:nvSpPr>
        <p:spPr>
          <a:xfrm>
            <a:off x="6195187" y="2101891"/>
            <a:ext cx="2033313" cy="1938992"/>
          </a:xfrm>
          <a:prstGeom prst="rect">
            <a:avLst/>
          </a:prstGeom>
          <a:noFill/>
        </p:spPr>
        <p:txBody>
          <a:bodyPr wrap="none" rtlCol="0">
            <a:spAutoFit/>
          </a:bodyPr>
          <a:lstStyle/>
          <a:p>
            <a:pPr algn="ctr"/>
            <a:r>
              <a:rPr lang="es-ES" sz="2000" noProof="0" dirty="0"/>
              <a:t>Single ring</a:t>
            </a:r>
          </a:p>
          <a:p>
            <a:pPr algn="ctr"/>
            <a:r>
              <a:rPr lang="es-ES" sz="2000" noProof="0" dirty="0"/>
              <a:t>transfer </a:t>
            </a:r>
            <a:r>
              <a:rPr lang="es-ES" sz="2000" noProof="0" dirty="0" err="1"/>
              <a:t>functions</a:t>
            </a:r>
            <a:endParaRPr lang="es-ES" sz="2000" noProof="0" dirty="0"/>
          </a:p>
          <a:p>
            <a:pPr algn="ctr"/>
            <a:endParaRPr lang="es-ES" sz="2000" noProof="0" dirty="0"/>
          </a:p>
          <a:p>
            <a:pPr algn="ctr"/>
            <a:r>
              <a:rPr lang="es-ES" sz="2000" noProof="0" dirty="0"/>
              <a:t>Linear </a:t>
            </a:r>
            <a:r>
              <a:rPr lang="es-ES" sz="2000" noProof="0" dirty="0" err="1"/>
              <a:t>units</a:t>
            </a:r>
            <a:endParaRPr lang="es-ES" sz="2000" noProof="0" dirty="0"/>
          </a:p>
          <a:p>
            <a:pPr algn="ctr"/>
            <a:endParaRPr lang="es-ES" sz="2000" noProof="0" dirty="0"/>
          </a:p>
          <a:p>
            <a:pPr algn="ctr"/>
            <a:r>
              <a:rPr lang="es-ES" sz="2000" noProof="0" dirty="0"/>
              <a:t>K=</a:t>
            </a:r>
          </a:p>
        </p:txBody>
      </p:sp>
      <p:sp>
        <p:nvSpPr>
          <p:cNvPr id="12" name="CuadroTexto 11">
            <a:extLst>
              <a:ext uri="{FF2B5EF4-FFF2-40B4-BE49-F238E27FC236}">
                <a16:creationId xmlns:a16="http://schemas.microsoft.com/office/drawing/2014/main" id="{4E78CC89-1377-28A4-024D-1B017D551FC5}"/>
              </a:ext>
            </a:extLst>
          </p:cNvPr>
          <p:cNvSpPr txBox="1"/>
          <p:nvPr/>
        </p:nvSpPr>
        <p:spPr>
          <a:xfrm>
            <a:off x="9869875" y="2871332"/>
            <a:ext cx="360996" cy="400110"/>
          </a:xfrm>
          <a:prstGeom prst="rect">
            <a:avLst/>
          </a:prstGeom>
          <a:noFill/>
        </p:spPr>
        <p:txBody>
          <a:bodyPr wrap="none" rtlCol="0">
            <a:spAutoFit/>
          </a:bodyPr>
          <a:lstStyle/>
          <a:p>
            <a:pPr algn="ctr"/>
            <a:r>
              <a:rPr lang="es-ES" sz="2000" noProof="0" dirty="0"/>
              <a:t>…</a:t>
            </a:r>
          </a:p>
        </p:txBody>
      </p:sp>
      <p:pic>
        <p:nvPicPr>
          <p:cNvPr id="3" name="Gráfico 2">
            <a:extLst>
              <a:ext uri="{FF2B5EF4-FFF2-40B4-BE49-F238E27FC236}">
                <a16:creationId xmlns:a16="http://schemas.microsoft.com/office/drawing/2014/main" id="{0B245A9E-6C9A-F3A8-E4B7-66158012641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6" name="object 16">
            <a:extLst>
              <a:ext uri="{FF2B5EF4-FFF2-40B4-BE49-F238E27FC236}">
                <a16:creationId xmlns:a16="http://schemas.microsoft.com/office/drawing/2014/main" id="{8266F13B-05F1-81DE-B638-66D10EEB9FA2}"/>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s-ES" sz="2500" kern="0" noProof="0" dirty="0" err="1"/>
              <a:t>Learning</a:t>
            </a:r>
            <a:r>
              <a:rPr lang="es-ES" sz="2500" kern="0" noProof="0" dirty="0"/>
              <a:t> </a:t>
            </a:r>
            <a:r>
              <a:rPr lang="es-ES" sz="2500" kern="0" noProof="0" dirty="0" err="1"/>
              <a:t>outcome</a:t>
            </a:r>
            <a:r>
              <a:rPr lang="es-ES" sz="2500" kern="0" noProof="0" dirty="0"/>
              <a:t> #6a – </a:t>
            </a:r>
            <a:r>
              <a:rPr lang="es-ES" sz="2500" kern="0" noProof="0" dirty="0" err="1"/>
              <a:t>Effect</a:t>
            </a:r>
            <a:r>
              <a:rPr lang="es-ES" sz="2500" kern="0" noProof="0" dirty="0"/>
              <a:t> </a:t>
            </a:r>
            <a:r>
              <a:rPr lang="es-ES" sz="2500" kern="0" noProof="0" dirty="0" err="1"/>
              <a:t>of</a:t>
            </a:r>
            <a:r>
              <a:rPr lang="es-ES" sz="2500" kern="0" noProof="0" dirty="0"/>
              <a:t> K </a:t>
            </a:r>
          </a:p>
          <a:p>
            <a:pPr marL="12700">
              <a:spcBef>
                <a:spcPts val="100"/>
              </a:spcBef>
            </a:pPr>
            <a:r>
              <a:rPr lang="es-ES" b="0" kern="0" spc="-5" noProof="0" dirty="0">
                <a:latin typeface="+mj-lt"/>
                <a:cs typeface="Lucida Sans"/>
              </a:rPr>
              <a:t>Change K </a:t>
            </a:r>
            <a:r>
              <a:rPr lang="es-ES" b="0" kern="0" spc="-5" noProof="0" dirty="0" err="1">
                <a:latin typeface="+mj-lt"/>
                <a:cs typeface="Lucida Sans"/>
              </a:rPr>
              <a:t>value</a:t>
            </a:r>
            <a:r>
              <a:rPr lang="es-ES" b="0" kern="0" spc="-5" noProof="0" dirty="0">
                <a:latin typeface="+mj-lt"/>
                <a:cs typeface="Lucida Sans"/>
              </a:rPr>
              <a:t> </a:t>
            </a:r>
            <a:r>
              <a:rPr lang="es-ES" b="0" kern="0" spc="-5" noProof="0" dirty="0" err="1">
                <a:latin typeface="+mj-lt"/>
                <a:cs typeface="Lucida Sans"/>
              </a:rPr>
              <a:t>between</a:t>
            </a:r>
            <a:r>
              <a:rPr lang="es-ES" b="0" kern="0" spc="-5" noProof="0" dirty="0">
                <a:latin typeface="+mj-lt"/>
                <a:cs typeface="Lucida Sans"/>
              </a:rPr>
              <a:t> 0.1 and 0.9 in </a:t>
            </a:r>
            <a:r>
              <a:rPr lang="es-ES" b="0" kern="0" spc="-5" noProof="0" dirty="0" err="1">
                <a:latin typeface="+mj-lt"/>
                <a:cs typeface="Lucida Sans"/>
              </a:rPr>
              <a:t>steps</a:t>
            </a:r>
            <a:r>
              <a:rPr lang="es-ES" b="0" kern="0" spc="-5" noProof="0" dirty="0">
                <a:latin typeface="+mj-lt"/>
                <a:cs typeface="Lucida Sans"/>
              </a:rPr>
              <a:t> </a:t>
            </a:r>
            <a:r>
              <a:rPr lang="es-ES" b="0" kern="0" spc="-5" noProof="0" dirty="0" err="1">
                <a:latin typeface="+mj-lt"/>
                <a:cs typeface="Lucida Sans"/>
              </a:rPr>
              <a:t>of</a:t>
            </a:r>
            <a:r>
              <a:rPr lang="es-ES" b="0" kern="0" spc="-5" noProof="0" dirty="0">
                <a:latin typeface="+mj-lt"/>
                <a:cs typeface="Lucida Sans"/>
              </a:rPr>
              <a:t> 0.1</a:t>
            </a:r>
          </a:p>
        </p:txBody>
      </p:sp>
      <p:pic>
        <p:nvPicPr>
          <p:cNvPr id="7" name="Picture 6">
            <a:extLst>
              <a:ext uri="{FF2B5EF4-FFF2-40B4-BE49-F238E27FC236}">
                <a16:creationId xmlns:a16="http://schemas.microsoft.com/office/drawing/2014/main" id="{5934818B-0C5F-2261-3283-DEEE14E53E19}"/>
              </a:ext>
            </a:extLst>
          </p:cNvPr>
          <p:cNvPicPr>
            <a:picLocks noChangeAspect="1"/>
          </p:cNvPicPr>
          <p:nvPr/>
        </p:nvPicPr>
        <p:blipFill>
          <a:blip r:embed="rId3"/>
          <a:stretch>
            <a:fillRect/>
          </a:stretch>
        </p:blipFill>
        <p:spPr>
          <a:xfrm>
            <a:off x="3074194" y="1187664"/>
            <a:ext cx="6043612" cy="3767446"/>
          </a:xfrm>
          <a:prstGeom prst="rect">
            <a:avLst/>
          </a:prstGeom>
        </p:spPr>
      </p:pic>
    </p:spTree>
    <p:extLst>
      <p:ext uri="{BB962C8B-B14F-4D97-AF65-F5344CB8AC3E}">
        <p14:creationId xmlns:p14="http://schemas.microsoft.com/office/powerpoint/2010/main" val="1931625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a:xfrm>
            <a:off x="609600" y="6444734"/>
            <a:ext cx="2743200" cy="184666"/>
          </a:xfrm>
        </p:spPr>
        <p:txBody>
          <a:bodyPr/>
          <a:lstStyle/>
          <a:p>
            <a:r>
              <a:rPr lang="es-ES" noProof="0" dirty="0"/>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s-ES" noProof="0" smtClean="0"/>
              <a:pPr/>
              <a:t>11</a:t>
            </a:fld>
            <a:endParaRPr lang="es-ES" noProof="0"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461665"/>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Se puede observar que tenemos un sobre acoplamiento en todos los casos, pero estando más cerca del acoplamiento crítico con 8 dB/cm. En este caso, el anillo se queda cerca de conseguir que la potencia que entra a este se pierda al darle una vuelta, pero no lo hace perfectamente y por eso no baja a el 0 en lineal.</a:t>
            </a:r>
            <a:endParaRPr lang="es-ES" sz="1200" noProof="0" dirty="0">
              <a:latin typeface="Arial" panose="020B0604020202020204" pitchFamily="34" charset="0"/>
              <a:cs typeface="Arial" panose="020B0604020202020204" pitchFamily="34" charset="0"/>
            </a:endParaRPr>
          </a:p>
        </p:txBody>
      </p:sp>
      <p:sp>
        <p:nvSpPr>
          <p:cNvPr id="10" name="CuadroTexto 9">
            <a:extLst>
              <a:ext uri="{FF2B5EF4-FFF2-40B4-BE49-F238E27FC236}">
                <a16:creationId xmlns:a16="http://schemas.microsoft.com/office/drawing/2014/main" id="{3146642F-220B-8F6A-59A8-2D128DDF3BEB}"/>
              </a:ext>
            </a:extLst>
          </p:cNvPr>
          <p:cNvSpPr txBox="1"/>
          <p:nvPr/>
        </p:nvSpPr>
        <p:spPr>
          <a:xfrm>
            <a:off x="3529935" y="2104638"/>
            <a:ext cx="2033313" cy="1938992"/>
          </a:xfrm>
          <a:prstGeom prst="rect">
            <a:avLst/>
          </a:prstGeom>
          <a:noFill/>
        </p:spPr>
        <p:txBody>
          <a:bodyPr wrap="none" rtlCol="0">
            <a:spAutoFit/>
          </a:bodyPr>
          <a:lstStyle/>
          <a:p>
            <a:pPr algn="ctr"/>
            <a:r>
              <a:rPr lang="es-ES" sz="2000" noProof="0" dirty="0"/>
              <a:t>Single ring</a:t>
            </a:r>
          </a:p>
          <a:p>
            <a:pPr algn="ctr"/>
            <a:r>
              <a:rPr lang="es-ES" sz="2000" noProof="0" dirty="0"/>
              <a:t>transfer </a:t>
            </a:r>
            <a:r>
              <a:rPr lang="es-ES" sz="2000" noProof="0" dirty="0" err="1"/>
              <a:t>functions</a:t>
            </a:r>
            <a:endParaRPr lang="es-ES" sz="2000" noProof="0" dirty="0"/>
          </a:p>
          <a:p>
            <a:pPr algn="ctr"/>
            <a:endParaRPr lang="es-ES" sz="2000" noProof="0" dirty="0"/>
          </a:p>
          <a:p>
            <a:pPr algn="ctr"/>
            <a:r>
              <a:rPr lang="es-ES" sz="2000" noProof="0" dirty="0"/>
              <a:t>Linear </a:t>
            </a:r>
            <a:r>
              <a:rPr lang="es-ES" sz="2000" noProof="0" dirty="0" err="1"/>
              <a:t>units</a:t>
            </a:r>
            <a:endParaRPr lang="es-ES" sz="2000" noProof="0" dirty="0"/>
          </a:p>
          <a:p>
            <a:pPr algn="ctr"/>
            <a:endParaRPr lang="es-ES" sz="2000" noProof="0" dirty="0"/>
          </a:p>
          <a:p>
            <a:pPr algn="ctr"/>
            <a:r>
              <a:rPr lang="es-ES" sz="2000" noProof="0" dirty="0" err="1"/>
              <a:t>alpha</a:t>
            </a:r>
            <a:r>
              <a:rPr lang="es-ES" sz="2000" noProof="0" dirty="0"/>
              <a:t>=1 dB/cm</a:t>
            </a:r>
          </a:p>
        </p:txBody>
      </p:sp>
      <p:sp>
        <p:nvSpPr>
          <p:cNvPr id="13" name="CuadroTexto 12">
            <a:extLst>
              <a:ext uri="{FF2B5EF4-FFF2-40B4-BE49-F238E27FC236}">
                <a16:creationId xmlns:a16="http://schemas.microsoft.com/office/drawing/2014/main" id="{057C499E-829F-FB11-9128-843C937CB822}"/>
              </a:ext>
            </a:extLst>
          </p:cNvPr>
          <p:cNvSpPr txBox="1"/>
          <p:nvPr/>
        </p:nvSpPr>
        <p:spPr>
          <a:xfrm>
            <a:off x="6195187" y="2101891"/>
            <a:ext cx="2033313" cy="1938992"/>
          </a:xfrm>
          <a:prstGeom prst="rect">
            <a:avLst/>
          </a:prstGeom>
          <a:noFill/>
        </p:spPr>
        <p:txBody>
          <a:bodyPr wrap="none" rtlCol="0">
            <a:spAutoFit/>
          </a:bodyPr>
          <a:lstStyle/>
          <a:p>
            <a:pPr algn="ctr"/>
            <a:r>
              <a:rPr lang="es-ES" sz="2000" noProof="0" dirty="0"/>
              <a:t>Single ring</a:t>
            </a:r>
          </a:p>
          <a:p>
            <a:pPr algn="ctr"/>
            <a:r>
              <a:rPr lang="es-ES" sz="2000" noProof="0" dirty="0"/>
              <a:t>transfer </a:t>
            </a:r>
            <a:r>
              <a:rPr lang="es-ES" sz="2000" noProof="0" dirty="0" err="1"/>
              <a:t>functions</a:t>
            </a:r>
            <a:endParaRPr lang="es-ES" sz="2000" noProof="0" dirty="0"/>
          </a:p>
          <a:p>
            <a:pPr algn="ctr"/>
            <a:endParaRPr lang="es-ES" sz="2000" noProof="0" dirty="0"/>
          </a:p>
          <a:p>
            <a:pPr algn="ctr"/>
            <a:r>
              <a:rPr lang="es-ES" sz="2000" noProof="0" dirty="0"/>
              <a:t>Linear </a:t>
            </a:r>
            <a:r>
              <a:rPr lang="es-ES" sz="2000" noProof="0" dirty="0" err="1"/>
              <a:t>units</a:t>
            </a:r>
            <a:endParaRPr lang="es-ES" sz="2000" noProof="0" dirty="0"/>
          </a:p>
          <a:p>
            <a:pPr algn="ctr"/>
            <a:endParaRPr lang="es-ES" sz="2000" noProof="0" dirty="0"/>
          </a:p>
          <a:p>
            <a:pPr algn="ctr"/>
            <a:r>
              <a:rPr lang="es-ES" sz="2000" noProof="0" dirty="0" err="1"/>
              <a:t>alpha</a:t>
            </a:r>
            <a:r>
              <a:rPr lang="es-ES" sz="2000" noProof="0" dirty="0"/>
              <a:t>=2 dB/cm</a:t>
            </a:r>
          </a:p>
        </p:txBody>
      </p:sp>
      <p:pic>
        <p:nvPicPr>
          <p:cNvPr id="17" name="Gráfico 16">
            <a:extLst>
              <a:ext uri="{FF2B5EF4-FFF2-40B4-BE49-F238E27FC236}">
                <a16:creationId xmlns:a16="http://schemas.microsoft.com/office/drawing/2014/main" id="{16D15CB1-2EB9-A3F2-8611-C524CCD1CAE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8" name="object 16">
            <a:extLst>
              <a:ext uri="{FF2B5EF4-FFF2-40B4-BE49-F238E27FC236}">
                <a16:creationId xmlns:a16="http://schemas.microsoft.com/office/drawing/2014/main" id="{989133D6-A9B3-EFEA-2703-51A6BDA0A885}"/>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s-ES" sz="2500" kern="0" noProof="0" dirty="0" err="1"/>
              <a:t>Learning</a:t>
            </a:r>
            <a:r>
              <a:rPr lang="es-ES" sz="2500" kern="0" noProof="0" dirty="0"/>
              <a:t> </a:t>
            </a:r>
            <a:r>
              <a:rPr lang="es-ES" sz="2500" kern="0" noProof="0" dirty="0" err="1"/>
              <a:t>outcome</a:t>
            </a:r>
            <a:r>
              <a:rPr lang="es-ES" sz="2500" kern="0" noProof="0" dirty="0"/>
              <a:t> #6b – </a:t>
            </a:r>
            <a:r>
              <a:rPr lang="es-ES" sz="2500" kern="0" noProof="0" dirty="0" err="1"/>
              <a:t>E</a:t>
            </a:r>
            <a:r>
              <a:rPr lang="es-ES" sz="2500" noProof="0" dirty="0" err="1"/>
              <a:t>ffect</a:t>
            </a:r>
            <a:r>
              <a:rPr lang="es-ES" sz="2500" noProof="0" dirty="0"/>
              <a:t> </a:t>
            </a:r>
            <a:r>
              <a:rPr lang="es-ES" sz="2500" noProof="0" dirty="0" err="1"/>
              <a:t>of</a:t>
            </a:r>
            <a:r>
              <a:rPr lang="es-ES" sz="2500" noProof="0" dirty="0"/>
              <a:t> </a:t>
            </a:r>
            <a:r>
              <a:rPr lang="es-ES" sz="2500" noProof="0" dirty="0" err="1"/>
              <a:t>loss</a:t>
            </a:r>
            <a:endParaRPr lang="es-ES" sz="2500" kern="0" noProof="0" dirty="0"/>
          </a:p>
          <a:p>
            <a:pPr marL="12700">
              <a:spcBef>
                <a:spcPts val="100"/>
              </a:spcBef>
            </a:pPr>
            <a:r>
              <a:rPr lang="es-ES" b="0" kern="0" spc="-5" noProof="0" dirty="0">
                <a:latin typeface="+mj-lt"/>
                <a:cs typeface="Lucida Sans"/>
              </a:rPr>
              <a:t>Change </a:t>
            </a:r>
            <a:r>
              <a:rPr lang="es-ES" b="0" kern="0" spc="-5" noProof="0" dirty="0" err="1">
                <a:latin typeface="+mj-lt"/>
                <a:cs typeface="Lucida Sans"/>
              </a:rPr>
              <a:t>losses</a:t>
            </a:r>
            <a:r>
              <a:rPr lang="es-ES" b="0" kern="0" spc="-5" noProof="0" dirty="0">
                <a:latin typeface="+mj-lt"/>
                <a:cs typeface="Lucida Sans"/>
              </a:rPr>
              <a:t> </a:t>
            </a:r>
            <a:r>
              <a:rPr lang="es-ES" b="0" kern="0" spc="-5" noProof="0" dirty="0" err="1">
                <a:latin typeface="+mj-lt"/>
                <a:cs typeface="Lucida Sans"/>
              </a:rPr>
              <a:t>value</a:t>
            </a:r>
            <a:r>
              <a:rPr lang="es-ES" b="0" kern="0" spc="-5" noProof="0" dirty="0">
                <a:latin typeface="+mj-lt"/>
                <a:cs typeface="Lucida Sans"/>
              </a:rPr>
              <a:t> </a:t>
            </a:r>
            <a:r>
              <a:rPr lang="es-ES" b="0" kern="0" spc="-5" noProof="0" dirty="0" err="1">
                <a:latin typeface="+mj-lt"/>
                <a:cs typeface="Lucida Sans"/>
              </a:rPr>
              <a:t>between</a:t>
            </a:r>
            <a:r>
              <a:rPr lang="es-ES" b="0" kern="0" spc="-5" noProof="0" dirty="0">
                <a:latin typeface="+mj-lt"/>
                <a:cs typeface="Lucida Sans"/>
              </a:rPr>
              <a:t> 0 and 8 </a:t>
            </a:r>
            <a:r>
              <a:rPr lang="es-ES" b="0" kern="0" spc="-5" noProof="0" dirty="0">
                <a:solidFill>
                  <a:srgbClr val="FF0000"/>
                </a:solidFill>
                <a:latin typeface="+mj-lt"/>
                <a:cs typeface="Lucida Sans"/>
              </a:rPr>
              <a:t>dB/cm </a:t>
            </a:r>
            <a:r>
              <a:rPr lang="es-ES" b="0" kern="0" spc="-5" noProof="0" dirty="0">
                <a:latin typeface="+mj-lt"/>
                <a:cs typeface="Lucida Sans"/>
              </a:rPr>
              <a:t>in </a:t>
            </a:r>
            <a:r>
              <a:rPr lang="es-ES" b="0" kern="0" spc="-5" noProof="0" dirty="0" err="1">
                <a:latin typeface="+mj-lt"/>
                <a:cs typeface="Lucida Sans"/>
              </a:rPr>
              <a:t>steps</a:t>
            </a:r>
            <a:r>
              <a:rPr lang="es-ES" b="0" kern="0" spc="-5" noProof="0" dirty="0">
                <a:latin typeface="+mj-lt"/>
                <a:cs typeface="Lucida Sans"/>
              </a:rPr>
              <a:t> </a:t>
            </a:r>
            <a:r>
              <a:rPr lang="es-ES" b="0" kern="0" spc="-5" noProof="0" dirty="0" err="1">
                <a:latin typeface="+mj-lt"/>
                <a:cs typeface="Lucida Sans"/>
              </a:rPr>
              <a:t>of</a:t>
            </a:r>
            <a:r>
              <a:rPr lang="es-ES" b="0" kern="0" spc="-5" noProof="0" dirty="0">
                <a:latin typeface="+mj-lt"/>
                <a:cs typeface="Lucida Sans"/>
              </a:rPr>
              <a:t> 1</a:t>
            </a:r>
          </a:p>
        </p:txBody>
      </p:sp>
      <p:pic>
        <p:nvPicPr>
          <p:cNvPr id="3" name="Picture 2">
            <a:extLst>
              <a:ext uri="{FF2B5EF4-FFF2-40B4-BE49-F238E27FC236}">
                <a16:creationId xmlns:a16="http://schemas.microsoft.com/office/drawing/2014/main" id="{F51B11AB-1397-9049-9592-CA829B6ACB60}"/>
              </a:ext>
            </a:extLst>
          </p:cNvPr>
          <p:cNvPicPr>
            <a:picLocks noChangeAspect="1"/>
          </p:cNvPicPr>
          <p:nvPr/>
        </p:nvPicPr>
        <p:blipFill>
          <a:blip r:embed="rId3"/>
          <a:stretch>
            <a:fillRect/>
          </a:stretch>
        </p:blipFill>
        <p:spPr>
          <a:xfrm>
            <a:off x="2866038" y="1382069"/>
            <a:ext cx="6017846" cy="3294942"/>
          </a:xfrm>
          <a:prstGeom prst="rect">
            <a:avLst/>
          </a:prstGeom>
        </p:spPr>
      </p:pic>
    </p:spTree>
    <p:extLst>
      <p:ext uri="{BB962C8B-B14F-4D97-AF65-F5344CB8AC3E}">
        <p14:creationId xmlns:p14="http://schemas.microsoft.com/office/powerpoint/2010/main" val="1461196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lang="es-ES" noProof="0" dirty="0"/>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lang="es-ES" sz="3200" b="1" spc="-5" noProof="0" dirty="0" err="1">
                <a:solidFill>
                  <a:srgbClr val="FFFFFF"/>
                </a:solidFill>
                <a:latin typeface="Lucida Sans"/>
                <a:cs typeface="Lucida Sans"/>
              </a:rPr>
              <a:t>Thank</a:t>
            </a:r>
            <a:r>
              <a:rPr lang="es-ES" sz="3200" b="1" spc="-55" noProof="0" dirty="0">
                <a:solidFill>
                  <a:srgbClr val="FFFFFF"/>
                </a:solidFill>
                <a:latin typeface="Lucida Sans"/>
                <a:cs typeface="Lucida Sans"/>
              </a:rPr>
              <a:t> </a:t>
            </a:r>
            <a:r>
              <a:rPr lang="es-ES" sz="3200" b="1" noProof="0" dirty="0" err="1">
                <a:solidFill>
                  <a:srgbClr val="FFFFFF"/>
                </a:solidFill>
                <a:latin typeface="Lucida Sans"/>
                <a:cs typeface="Lucida Sans"/>
              </a:rPr>
              <a:t>you</a:t>
            </a:r>
            <a:endParaRPr lang="es-ES" sz="3200" noProof="0" dirty="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noProof="0" smtClean="0"/>
              <a:t>12</a:t>
            </a:fld>
            <a:endParaRPr lang="es-ES"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2343</TotalTime>
  <Words>1765</Words>
  <Application>Microsoft Office PowerPoint</Application>
  <PresentationFormat>Widescreen</PresentationFormat>
  <Paragraphs>196</Paragraphs>
  <Slides>12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Lucida Sans</vt:lpstr>
      <vt:lpstr>Wingdings</vt:lpstr>
      <vt:lpstr>Office Theme</vt:lpstr>
      <vt:lpstr>PowerPoint Presentation</vt:lpstr>
      <vt:lpstr>Instructions General</vt:lpstr>
      <vt:lpstr>Learning outcome #1a – Perfectly balanced MZI </vt:lpstr>
      <vt:lpstr>Learning outcome #1b – Unbalanced MZI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David Llopis Escriche</cp:lastModifiedBy>
  <cp:revision>20</cp:revision>
  <dcterms:created xsi:type="dcterms:W3CDTF">2025-01-27T02:46:57Z</dcterms:created>
  <dcterms:modified xsi:type="dcterms:W3CDTF">2026-05-28T17:45:35Z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